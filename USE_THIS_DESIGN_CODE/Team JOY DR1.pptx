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07_0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79" r:id="rId3"/>
    <p:sldId id="257" r:id="rId4"/>
    <p:sldId id="280" r:id="rId5"/>
    <p:sldId id="275" r:id="rId6"/>
    <p:sldId id="271" r:id="rId7"/>
    <p:sldId id="274" r:id="rId8"/>
    <p:sldId id="258" r:id="rId9"/>
    <p:sldId id="276" r:id="rId10"/>
    <p:sldId id="260" r:id="rId11"/>
    <p:sldId id="261" r:id="rId12"/>
    <p:sldId id="277" r:id="rId13"/>
    <p:sldId id="262" r:id="rId14"/>
    <p:sldId id="263" r:id="rId15"/>
    <p:sldId id="264" r:id="rId16"/>
    <p:sldId id="278" r:id="rId17"/>
    <p:sldId id="267" r:id="rId18"/>
    <p:sldId id="272" r:id="rId19"/>
    <p:sldId id="266" r:id="rId20"/>
    <p:sldId id="269" r:id="rId21"/>
    <p:sldId id="281" r:id="rId22"/>
    <p:sldId id="268" r:id="rId23"/>
    <p:sldId id="270" r:id="rId2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Garamond" panose="02020404030301010803" pitchFamily="18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Main Section" id="{20712484-D763-DC47-BA4F-90BB642C4097}">
          <p14:sldIdLst>
            <p14:sldId id="256"/>
            <p14:sldId id="279"/>
            <p14:sldId id="257"/>
            <p14:sldId id="280"/>
            <p14:sldId id="275"/>
            <p14:sldId id="271"/>
            <p14:sldId id="274"/>
            <p14:sldId id="258"/>
            <p14:sldId id="276"/>
            <p14:sldId id="260"/>
            <p14:sldId id="261"/>
            <p14:sldId id="277"/>
            <p14:sldId id="262"/>
            <p14:sldId id="263"/>
            <p14:sldId id="264"/>
            <p14:sldId id="278"/>
            <p14:sldId id="267"/>
            <p14:sldId id="272"/>
          </p14:sldIdLst>
        </p14:section>
        <p14:section name="Backup Slides" id="{6B78C882-3E6E-D344-B2F5-1D3DFFE757E2}">
          <p14:sldIdLst>
            <p14:sldId id="266"/>
            <p14:sldId id="269"/>
            <p14:sldId id="281"/>
            <p14:sldId id="268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A4AA1D-0B86-6D97-028D-60B788DCB95E}" name="Zack Wojtalik" initials="ZW" userId="S::zawo6371@colorado.edu::3d89f850-3155-4302-b099-8d483e0fb8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2F676-9B7B-9ABA-817C-8BCE849843CF}" v="740" dt="2026-09-28T03:54:44.597"/>
    <p1510:client id="{42939D9A-CFB5-1944-94C3-49F0863B012B}" v="451" dt="2026-09-28T05:33:20.131"/>
    <p1510:client id="{569CB163-CC2E-1196-66C9-1049D914DE24}" v="6" dt="2026-09-27T17:40:50.153"/>
    <p1510:client id="{D780779E-6D13-2D80-9AA8-95F758DB6C7D}" v="297" dt="2026-09-28T03:12:26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/>
    <p:restoredTop sz="95741"/>
  </p:normalViewPr>
  <p:slideViewPr>
    <p:cSldViewPr snapToGrid="0">
      <p:cViewPr>
        <p:scale>
          <a:sx n="140" d="100"/>
          <a:sy n="140" d="100"/>
        </p:scale>
        <p:origin x="856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3088B75-BB71-4C22-9A30-EDB76C81E142}" authorId="{67A4AA1D-0B86-6D97-028D-60B788DCB95E}" status="resolved" created="2026-09-24T19:17:38.07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7" creationId="{C4D455DD-1F04-B6AC-76E1-ED414E5CEC53}"/>
      <ac:txMk cp="151" len="75">
        <ac:context len="227" hash="3813851943"/>
      </ac:txMk>
    </ac:txMkLst>
    <p188:pos x="6818586" y="1655379"/>
    <p188:txBody>
      <a:bodyPr/>
      <a:lstStyle/>
      <a:p>
        <a:r>
          <a:rPr lang="en-US"/>
          <a:t>Any way you can add a point where the Cg is on the graph.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Noah – 30 second intro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C3F9B4C-E8EE-5F0A-BCA4-70AE5B75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DB6C49C-82D4-7891-EA97-94798038D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AD4DE0E-891A-5855-7E43-073DEF7563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Noah – 30 second intro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9514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d50a5006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9d50a5006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Kai - 2 min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B8842019-4328-15FB-D4AB-69A7C033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d50a5006_0_101:notes">
            <a:extLst>
              <a:ext uri="{FF2B5EF4-FFF2-40B4-BE49-F238E27FC236}">
                <a16:creationId xmlns:a16="http://schemas.microsoft.com/office/drawing/2014/main" id="{DC7A9499-0461-BE7C-6ADA-555B591DA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9d50a5006_0_101:notes">
            <a:extLst>
              <a:ext uri="{FF2B5EF4-FFF2-40B4-BE49-F238E27FC236}">
                <a16:creationId xmlns:a16="http://schemas.microsoft.com/office/drawing/2014/main" id="{E25CFBEA-A3B8-46E2-32D8-DD307ADE4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Quick yap about the general dimensions of our aircraft and the mission profile – climb segments, top speed segment (150mph for 10min), 1 hour cruise segment, loiter and descent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8556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7043129F-955F-952F-B97A-22FF4F0B2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d50a5006_0_101:notes">
            <a:extLst>
              <a:ext uri="{FF2B5EF4-FFF2-40B4-BE49-F238E27FC236}">
                <a16:creationId xmlns:a16="http://schemas.microsoft.com/office/drawing/2014/main" id="{CB63ED89-97AC-988C-94BD-F5502BD7A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9d50a5006_0_101:notes">
            <a:extLst>
              <a:ext uri="{FF2B5EF4-FFF2-40B4-BE49-F238E27FC236}">
                <a16:creationId xmlns:a16="http://schemas.microsoft.com/office/drawing/2014/main" id="{E4276471-EC27-1656-C864-360B10E5F3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Kai - 2 min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3526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517A6A1C-EE98-4F0F-3634-75A5A6A4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9d50a5006_0_106:notes">
            <a:extLst>
              <a:ext uri="{FF2B5EF4-FFF2-40B4-BE49-F238E27FC236}">
                <a16:creationId xmlns:a16="http://schemas.microsoft.com/office/drawing/2014/main" id="{9BC6A992-7178-D066-ED94-80B53A87C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Google Shape;121;g409d50a5006_0_106:notes">
                <a:extLst>
                  <a:ext uri="{FF2B5EF4-FFF2-40B4-BE49-F238E27FC236}">
                    <a16:creationId xmlns:a16="http://schemas.microsoft.com/office/drawing/2014/main" id="{E69A805E-B6FD-4C34-81C4-6F8693DEED4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Noah – 45 seconds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=1.05 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wet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</a:p>
              <a:p>
                <a:r>
                  <a:rPr lang="en-US" b="1"/>
                  <a:t>surface area × thickness</a:t>
                </a:r>
                <a:r>
                  <a:rPr lang="en-US"/>
                  <a:t> estimates the material volume. Multiplying by </a:t>
                </a:r>
                <a:r>
                  <a:rPr lang="en-US" b="1"/>
                  <a:t>density</a:t>
                </a:r>
                <a:r>
                  <a:rPr lang="en-US"/>
                  <a:t> gives that part’s weight. The </a:t>
                </a:r>
                <a:r>
                  <a:rPr lang="en-US" b="1"/>
                  <a:t>1.05</a:t>
                </a:r>
                <a:r>
                  <a:rPr lang="en-US"/>
                  <a:t> is a 5% multiplier used in the code.</a:t>
                </a:r>
              </a:p>
              <a:p>
                <a:pPr marL="0" indent="0">
                  <a:buNone/>
                </a:pPr>
                <a:r>
                  <a:rPr lang="en-US"/>
                  <a:t>- Included skin thickness sensitivity study to show Raymer is definitely overestimating, and note that this estimates a 100% infill LWPLA</a:t>
                </a:r>
              </a:p>
            </p:txBody>
          </p:sp>
        </mc:Choice>
        <mc:Fallback xmlns="">
          <p:sp>
            <p:nvSpPr>
              <p:cNvPr id="121" name="Google Shape;121;g409d50a5006_0_106:notes">
                <a:extLst>
                  <a:ext uri="{FF2B5EF4-FFF2-40B4-BE49-F238E27FC236}">
                    <a16:creationId xmlns:a16="http://schemas.microsoft.com/office/drawing/2014/main" id="{E69A805E-B6FD-4C34-81C4-6F8693DEED4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Noah – 45 seconds</a:t>
                </a:r>
              </a:p>
              <a:p>
                <a:pPr marL="0" indent="0">
                  <a:buNone/>
                </a:pPr>
                <a:r>
                  <a:rPr lang="en-US" i="0" dirty="0">
                    <a:latin typeface="Cambria Math" panose="02040503050406030204" pitchFamily="18" charset="0"/>
                  </a:rPr>
                  <a:t>𝑊_𝑖=1.05 𝜌_𝑖 𝑆_("wet" ,𝑖) 𝑡_𝑖</a:t>
                </a:r>
                <a:r>
                  <a:rPr lang="en-US"/>
                  <a:t> </a:t>
                </a:r>
              </a:p>
              <a:p>
                <a:r>
                  <a:rPr lang="en-US" b="1"/>
                  <a:t>surface area × thickness</a:t>
                </a:r>
                <a:r>
                  <a:rPr lang="en-US"/>
                  <a:t> estimates the material volume. Multiplying by </a:t>
                </a:r>
                <a:r>
                  <a:rPr lang="en-US" b="1"/>
                  <a:t>density</a:t>
                </a:r>
                <a:r>
                  <a:rPr lang="en-US"/>
                  <a:t> gives that part’s weight. The </a:t>
                </a:r>
                <a:r>
                  <a:rPr lang="en-US" b="1"/>
                  <a:t>1.05</a:t>
                </a:r>
                <a:r>
                  <a:rPr lang="en-US"/>
                  <a:t> is a 5% multiplier used in the code.</a:t>
                </a:r>
              </a:p>
              <a:p>
                <a:pPr marL="0" indent="0">
                  <a:buNone/>
                </a:pPr>
                <a:r>
                  <a:rPr lang="en-US"/>
                  <a:t>- Included skin thickness sensitivity study to show Raymer is definitely overestimating, and note that this estimates a 100% infill LWPLA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2702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CA1F761-DC09-DBB7-6CDA-A9FE691F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09d50a5006_0_126:notes">
            <a:extLst>
              <a:ext uri="{FF2B5EF4-FFF2-40B4-BE49-F238E27FC236}">
                <a16:creationId xmlns:a16="http://schemas.microsoft.com/office/drawing/2014/main" id="{C82EB538-6811-14D9-9C4C-ABBAC3196A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09d50a5006_0_126:notes">
            <a:extLst>
              <a:ext uri="{FF2B5EF4-FFF2-40B4-BE49-F238E27FC236}">
                <a16:creationId xmlns:a16="http://schemas.microsoft.com/office/drawing/2014/main" id="{11F7C2ED-CB19-1B35-4A7D-9ED8B812D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/>
              <a:t>Noah – 45 seconds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spc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spc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Spar info: 16/14mm &amp; 14/12mm, </a:t>
            </a:r>
            <a:r>
              <a:rPr lang="en-US"/>
              <a:t>0.29 </a:t>
            </a:r>
            <a:r>
              <a:rPr lang="en-US" err="1"/>
              <a:t>lbs</a:t>
            </a:r>
            <a:r>
              <a:rPr lang="en-US"/>
              <a:t> per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spc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572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9d50a5006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09d50a5006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ZACK – 1.5 min</a:t>
            </a:r>
          </a:p>
          <a:p>
            <a:pPr marL="0" indent="0">
              <a:buNone/>
            </a:pPr>
            <a:r>
              <a:rPr lang="en-US" dirty="0"/>
              <a:t>Raymer said to take 60-80% of these values </a:t>
            </a:r>
          </a:p>
          <a:p>
            <a:pPr marL="0" indent="0">
              <a:buNone/>
            </a:pPr>
            <a:r>
              <a:rPr lang="en-US" dirty="0"/>
              <a:t>Can also implement leading edge slot – increases stall angle of attack and can be fixed</a:t>
            </a:r>
          </a:p>
          <a:p>
            <a:pPr marL="0" indent="0">
              <a:buNone/>
            </a:pPr>
            <a:r>
              <a:rPr lang="en-US" dirty="0"/>
              <a:t>I have pdf of blown flap paper for prop planes, they used a 4" propeller on a 2D airfoil in a wind tunnel. Results show that more blowing will yield a higher sectional lift coefficient like we expected for a slotted flap design. With flap deflection we can achieve a conservative Cl estimate of 2 but potentially up to 4.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1.5 min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63619FDC-BB98-780D-6630-F1B3196BD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d50a5006_0_101:notes">
            <a:extLst>
              <a:ext uri="{FF2B5EF4-FFF2-40B4-BE49-F238E27FC236}">
                <a16:creationId xmlns:a16="http://schemas.microsoft.com/office/drawing/2014/main" id="{39113CC3-940C-40FD-461B-C91B5DB898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9d50a5006_0_101:notes">
            <a:extLst>
              <a:ext uri="{FF2B5EF4-FFF2-40B4-BE49-F238E27FC236}">
                <a16:creationId xmlns:a16="http://schemas.microsoft.com/office/drawing/2014/main" id="{5BC40234-617A-4AF5-E0A6-617A3A4B0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Kai - 2 min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479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09d50a5006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09d50a5006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Zack - 1.5 min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09d50a5006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09d50a5006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Cash - 1.5 min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CFC25DBE-D139-C4A5-FB7C-66092A6B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d50a5006_0_101:notes">
            <a:extLst>
              <a:ext uri="{FF2B5EF4-FFF2-40B4-BE49-F238E27FC236}">
                <a16:creationId xmlns:a16="http://schemas.microsoft.com/office/drawing/2014/main" id="{904C3D49-3977-3336-2EA7-EADA5F03A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9d50a5006_0_101:notes">
            <a:extLst>
              <a:ext uri="{FF2B5EF4-FFF2-40B4-BE49-F238E27FC236}">
                <a16:creationId xmlns:a16="http://schemas.microsoft.com/office/drawing/2014/main" id="{B64E98C5-05CA-FF96-2528-550CD66E7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Kai - 2 min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3550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409d50a5006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409d50a5006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Noah - 1.5 min</a:t>
            </a:r>
          </a:p>
          <a:p>
            <a:pPr lvl="0"/>
            <a:r>
              <a:rPr lang="en-US" b="1"/>
              <a:t>Segmented LW-PLA:</a:t>
            </a:r>
            <a:r>
              <a:rPr lang="en-US"/>
              <a:t> Fits printer limits; reinforce joints to transfer loads. </a:t>
            </a:r>
          </a:p>
          <a:p>
            <a:pPr lvl="0"/>
            <a:r>
              <a:rPr lang="en-US" b="1"/>
              <a:t>Plain blown flaps:</a:t>
            </a:r>
            <a:r>
              <a:rPr lang="en-US"/>
              <a:t> Simple mechanism; reinforce hinges and servo mounts. </a:t>
            </a:r>
          </a:p>
          <a:p>
            <a:pPr lvl="0"/>
            <a:r>
              <a:rPr lang="en-US" b="1"/>
              <a:t>Wing spar:</a:t>
            </a:r>
            <a:r>
              <a:rPr lang="en-US"/>
              <a:t> Carries bending loads into fuselage; surrounding structure resists twisting. </a:t>
            </a:r>
          </a:p>
          <a:p>
            <a:pPr lvl="0"/>
            <a:r>
              <a:rPr lang="en-US" b="1"/>
              <a:t>Fixed tailwheel:</a:t>
            </a:r>
            <a:r>
              <a:rPr lang="en-US"/>
              <a:t> Intended for larger-prop clearance; reinforced mounts carry landing loads without retraction hardware.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9d50a5006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09d50a5006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Cash - 1.5 min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09d50a5006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09d50a5006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Kai - 1.5 min – BE READY TO ANSWER QUESTIONS? TALK ABOUT THIS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891B5022-83BC-8451-0B20-9101AA9B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d50a5006_0_101:notes">
            <a:extLst>
              <a:ext uri="{FF2B5EF4-FFF2-40B4-BE49-F238E27FC236}">
                <a16:creationId xmlns:a16="http://schemas.microsoft.com/office/drawing/2014/main" id="{7CC527F4-ABD9-6157-0C0E-3706D0D4C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09d50a5006_0_101:notes">
            <a:extLst>
              <a:ext uri="{FF2B5EF4-FFF2-40B4-BE49-F238E27FC236}">
                <a16:creationId xmlns:a16="http://schemas.microsoft.com/office/drawing/2014/main" id="{84DE0B2B-4C76-DAEB-C577-CBA804592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Kai - 2 min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2479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CDB7AEE1-C98C-7522-3EFA-B1769B590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09d50a5006_0_131:notes">
            <a:extLst>
              <a:ext uri="{FF2B5EF4-FFF2-40B4-BE49-F238E27FC236}">
                <a16:creationId xmlns:a16="http://schemas.microsoft.com/office/drawing/2014/main" id="{6BC5C59A-9467-33D8-A456-1E10B84C1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09d50a5006_0_131:notes">
            <a:extLst>
              <a:ext uri="{FF2B5EF4-FFF2-40B4-BE49-F238E27FC236}">
                <a16:creationId xmlns:a16="http://schemas.microsoft.com/office/drawing/2014/main" id="{110C98B2-AE2D-7E28-6526-29AA8FCAD8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Kai - 1.5 min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083253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4AD5F3C7-76F6-B692-C983-07245705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09d50a5006_0_126:notes">
            <a:extLst>
              <a:ext uri="{FF2B5EF4-FFF2-40B4-BE49-F238E27FC236}">
                <a16:creationId xmlns:a16="http://schemas.microsoft.com/office/drawing/2014/main" id="{615F3D10-BF50-302D-F550-2B49865FC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09d50a5006_0_126:notes">
            <a:extLst>
              <a:ext uri="{FF2B5EF4-FFF2-40B4-BE49-F238E27FC236}">
                <a16:creationId xmlns:a16="http://schemas.microsoft.com/office/drawing/2014/main" id="{0DE5283B-4286-F28C-408F-E44723E37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1223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F40CCF6-C55D-AA63-6CE3-D6CBE54D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09d50a5006_0_126:notes">
            <a:extLst>
              <a:ext uri="{FF2B5EF4-FFF2-40B4-BE49-F238E27FC236}">
                <a16:creationId xmlns:a16="http://schemas.microsoft.com/office/drawing/2014/main" id="{B71A3A97-D32B-B1B7-9E4C-51F23D296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09d50a5006_0_126:notes">
            <a:extLst>
              <a:ext uri="{FF2B5EF4-FFF2-40B4-BE49-F238E27FC236}">
                <a16:creationId xmlns:a16="http://schemas.microsoft.com/office/drawing/2014/main" id="{933FD66F-1639-6914-1925-41426AED85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4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58DBC9A-0154-23BF-1D27-028EA329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09d50a5006_0_126:notes">
            <a:extLst>
              <a:ext uri="{FF2B5EF4-FFF2-40B4-BE49-F238E27FC236}">
                <a16:creationId xmlns:a16="http://schemas.microsoft.com/office/drawing/2014/main" id="{70B00D93-1319-24DA-54C2-49B8B6084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09d50a5006_0_126:notes">
            <a:extLst>
              <a:ext uri="{FF2B5EF4-FFF2-40B4-BE49-F238E27FC236}">
                <a16:creationId xmlns:a16="http://schemas.microsoft.com/office/drawing/2014/main" id="{55657B20-4219-3E22-AE66-8AEF42270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43715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F8C0AA5-AB5C-29A3-AA86-06845E16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09d50a5006_0_126:notes">
            <a:extLst>
              <a:ext uri="{FF2B5EF4-FFF2-40B4-BE49-F238E27FC236}">
                <a16:creationId xmlns:a16="http://schemas.microsoft.com/office/drawing/2014/main" id="{8682833D-E493-DCB9-1C1C-16491B0AB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09d50a5006_0_126:notes">
            <a:extLst>
              <a:ext uri="{FF2B5EF4-FFF2-40B4-BE49-F238E27FC236}">
                <a16:creationId xmlns:a16="http://schemas.microsoft.com/office/drawing/2014/main" id="{832A8E49-1A61-EEA3-66FE-D2470D1CC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0013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0FD54A4-3241-D125-6CCE-BF625154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09d50a5006_0_126:notes">
            <a:extLst>
              <a:ext uri="{FF2B5EF4-FFF2-40B4-BE49-F238E27FC236}">
                <a16:creationId xmlns:a16="http://schemas.microsoft.com/office/drawing/2014/main" id="{9334CD16-951E-68DA-FC6B-CCF42EFA4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09d50a5006_0_126:notes">
            <a:extLst>
              <a:ext uri="{FF2B5EF4-FFF2-40B4-BE49-F238E27FC236}">
                <a16:creationId xmlns:a16="http://schemas.microsoft.com/office/drawing/2014/main" id="{AF3BC1EA-1924-825D-427C-4057E2288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102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/>
          <p:cNvPicPr preferRelativeResize="0"/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2604620" y="1401000"/>
            <a:ext cx="3934800" cy="2180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8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949300" y="3657300"/>
            <a:ext cx="5245500" cy="409500"/>
          </a:xfrm>
          <a:prstGeom prst="rect">
            <a:avLst/>
          </a:prstGeom>
          <a:solidFill>
            <a:srgbClr val="FFFF82">
              <a:alpha val="61310"/>
            </a:srgbClr>
          </a:solidFill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87" name="Google Shape;87;p13"/>
          <p:cNvGrpSpPr/>
          <p:nvPr/>
        </p:nvGrpSpPr>
        <p:grpSpPr>
          <a:xfrm>
            <a:off x="197475" y="2394450"/>
            <a:ext cx="340077" cy="1049230"/>
            <a:chOff x="2213300" y="1528900"/>
            <a:chExt cx="340077" cy="1049230"/>
          </a:xfrm>
        </p:grpSpPr>
        <p:sp>
          <p:nvSpPr>
            <p:cNvPr id="88" name="Google Shape;88;p13"/>
            <p:cNvSpPr/>
            <p:nvPr/>
          </p:nvSpPr>
          <p:spPr>
            <a:xfrm>
              <a:off x="2213300" y="2238053"/>
              <a:ext cx="340077" cy="340077"/>
            </a:xfrm>
            <a:custGeom>
              <a:avLst/>
              <a:gdLst/>
              <a:ahLst/>
              <a:cxnLst/>
              <a:rect l="l" t="t" r="r" b="b"/>
              <a:pathLst>
                <a:path w="4408" h="4408" extrusionOk="0">
                  <a:moveTo>
                    <a:pt x="3763" y="3764"/>
                  </a:moveTo>
                  <a:lnTo>
                    <a:pt x="3763" y="3764"/>
                  </a:lnTo>
                  <a:lnTo>
                    <a:pt x="3763" y="3764"/>
                  </a:lnTo>
                  <a:close/>
                  <a:moveTo>
                    <a:pt x="2198" y="1"/>
                  </a:moveTo>
                  <a:lnTo>
                    <a:pt x="2021" y="1756"/>
                  </a:lnTo>
                  <a:lnTo>
                    <a:pt x="644" y="645"/>
                  </a:lnTo>
                  <a:lnTo>
                    <a:pt x="1756" y="2021"/>
                  </a:lnTo>
                  <a:lnTo>
                    <a:pt x="0" y="2198"/>
                  </a:lnTo>
                  <a:lnTo>
                    <a:pt x="1756" y="2387"/>
                  </a:lnTo>
                  <a:lnTo>
                    <a:pt x="644" y="3764"/>
                  </a:lnTo>
                  <a:lnTo>
                    <a:pt x="2021" y="2640"/>
                  </a:lnTo>
                  <a:lnTo>
                    <a:pt x="2198" y="4408"/>
                  </a:lnTo>
                  <a:lnTo>
                    <a:pt x="2387" y="2640"/>
                  </a:lnTo>
                  <a:lnTo>
                    <a:pt x="3763" y="3764"/>
                  </a:lnTo>
                  <a:lnTo>
                    <a:pt x="2639" y="2387"/>
                  </a:lnTo>
                  <a:lnTo>
                    <a:pt x="4407" y="2198"/>
                  </a:lnTo>
                  <a:lnTo>
                    <a:pt x="2639" y="2021"/>
                  </a:lnTo>
                  <a:lnTo>
                    <a:pt x="3763" y="645"/>
                  </a:lnTo>
                  <a:lnTo>
                    <a:pt x="2387" y="1756"/>
                  </a:lnTo>
                  <a:lnTo>
                    <a:pt x="2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2313672" y="1997425"/>
              <a:ext cx="138407" cy="138407"/>
            </a:xfrm>
            <a:custGeom>
              <a:avLst/>
              <a:gdLst/>
              <a:ahLst/>
              <a:cxnLst/>
              <a:rect l="l" t="t" r="r" b="b"/>
              <a:pathLst>
                <a:path w="1794" h="1794" extrusionOk="0">
                  <a:moveTo>
                    <a:pt x="897" y="1"/>
                  </a:moveTo>
                  <a:cubicBezTo>
                    <a:pt x="897" y="64"/>
                    <a:pt x="884" y="127"/>
                    <a:pt x="884" y="203"/>
                  </a:cubicBezTo>
                  <a:cubicBezTo>
                    <a:pt x="859" y="569"/>
                    <a:pt x="568" y="860"/>
                    <a:pt x="202" y="885"/>
                  </a:cubicBezTo>
                  <a:cubicBezTo>
                    <a:pt x="139" y="885"/>
                    <a:pt x="63" y="897"/>
                    <a:pt x="0" y="897"/>
                  </a:cubicBezTo>
                  <a:cubicBezTo>
                    <a:pt x="63" y="910"/>
                    <a:pt x="139" y="910"/>
                    <a:pt x="202" y="910"/>
                  </a:cubicBezTo>
                  <a:cubicBezTo>
                    <a:pt x="568" y="935"/>
                    <a:pt x="859" y="1226"/>
                    <a:pt x="884" y="1605"/>
                  </a:cubicBezTo>
                  <a:cubicBezTo>
                    <a:pt x="884" y="1668"/>
                    <a:pt x="897" y="1731"/>
                    <a:pt x="897" y="1794"/>
                  </a:cubicBezTo>
                  <a:cubicBezTo>
                    <a:pt x="909" y="1731"/>
                    <a:pt x="909" y="1668"/>
                    <a:pt x="909" y="1605"/>
                  </a:cubicBezTo>
                  <a:cubicBezTo>
                    <a:pt x="934" y="1226"/>
                    <a:pt x="1225" y="935"/>
                    <a:pt x="1604" y="910"/>
                  </a:cubicBezTo>
                  <a:cubicBezTo>
                    <a:pt x="1667" y="910"/>
                    <a:pt x="1730" y="910"/>
                    <a:pt x="1793" y="897"/>
                  </a:cubicBezTo>
                  <a:cubicBezTo>
                    <a:pt x="1730" y="897"/>
                    <a:pt x="1667" y="885"/>
                    <a:pt x="1604" y="885"/>
                  </a:cubicBezTo>
                  <a:cubicBezTo>
                    <a:pt x="1225" y="860"/>
                    <a:pt x="947" y="569"/>
                    <a:pt x="909" y="203"/>
                  </a:cubicBezTo>
                  <a:cubicBezTo>
                    <a:pt x="909" y="127"/>
                    <a:pt x="909" y="64"/>
                    <a:pt x="8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2313672" y="1763664"/>
              <a:ext cx="138407" cy="137404"/>
            </a:xfrm>
            <a:custGeom>
              <a:avLst/>
              <a:gdLst/>
              <a:ahLst/>
              <a:cxnLst/>
              <a:rect l="l" t="t" r="r" b="b"/>
              <a:pathLst>
                <a:path w="1794" h="1781" extrusionOk="0">
                  <a:moveTo>
                    <a:pt x="897" y="0"/>
                  </a:moveTo>
                  <a:cubicBezTo>
                    <a:pt x="897" y="64"/>
                    <a:pt x="884" y="127"/>
                    <a:pt x="884" y="190"/>
                  </a:cubicBezTo>
                  <a:cubicBezTo>
                    <a:pt x="859" y="556"/>
                    <a:pt x="568" y="846"/>
                    <a:pt x="202" y="872"/>
                  </a:cubicBezTo>
                  <a:cubicBezTo>
                    <a:pt x="139" y="884"/>
                    <a:pt x="63" y="884"/>
                    <a:pt x="0" y="897"/>
                  </a:cubicBezTo>
                  <a:cubicBezTo>
                    <a:pt x="63" y="897"/>
                    <a:pt x="139" y="910"/>
                    <a:pt x="202" y="910"/>
                  </a:cubicBezTo>
                  <a:cubicBezTo>
                    <a:pt x="568" y="935"/>
                    <a:pt x="859" y="1225"/>
                    <a:pt x="884" y="1591"/>
                  </a:cubicBezTo>
                  <a:cubicBezTo>
                    <a:pt x="884" y="1655"/>
                    <a:pt x="897" y="1718"/>
                    <a:pt x="897" y="1781"/>
                  </a:cubicBezTo>
                  <a:cubicBezTo>
                    <a:pt x="909" y="1718"/>
                    <a:pt x="909" y="1655"/>
                    <a:pt x="909" y="1591"/>
                  </a:cubicBezTo>
                  <a:cubicBezTo>
                    <a:pt x="934" y="1225"/>
                    <a:pt x="1225" y="935"/>
                    <a:pt x="1604" y="910"/>
                  </a:cubicBezTo>
                  <a:cubicBezTo>
                    <a:pt x="1667" y="897"/>
                    <a:pt x="1730" y="897"/>
                    <a:pt x="1793" y="897"/>
                  </a:cubicBezTo>
                  <a:cubicBezTo>
                    <a:pt x="1730" y="884"/>
                    <a:pt x="1667" y="884"/>
                    <a:pt x="1604" y="872"/>
                  </a:cubicBezTo>
                  <a:cubicBezTo>
                    <a:pt x="1225" y="846"/>
                    <a:pt x="947" y="556"/>
                    <a:pt x="909" y="190"/>
                  </a:cubicBezTo>
                  <a:cubicBezTo>
                    <a:pt x="909" y="127"/>
                    <a:pt x="909" y="64"/>
                    <a:pt x="8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2313672" y="1528900"/>
              <a:ext cx="138407" cy="138407"/>
            </a:xfrm>
            <a:custGeom>
              <a:avLst/>
              <a:gdLst/>
              <a:ahLst/>
              <a:cxnLst/>
              <a:rect l="l" t="t" r="r" b="b"/>
              <a:pathLst>
                <a:path w="1794" h="1794" extrusionOk="0">
                  <a:moveTo>
                    <a:pt x="897" y="0"/>
                  </a:moveTo>
                  <a:cubicBezTo>
                    <a:pt x="897" y="63"/>
                    <a:pt x="884" y="127"/>
                    <a:pt x="884" y="190"/>
                  </a:cubicBezTo>
                  <a:cubicBezTo>
                    <a:pt x="859" y="569"/>
                    <a:pt x="568" y="859"/>
                    <a:pt x="202" y="884"/>
                  </a:cubicBezTo>
                  <a:cubicBezTo>
                    <a:pt x="139" y="884"/>
                    <a:pt x="63" y="884"/>
                    <a:pt x="0" y="897"/>
                  </a:cubicBezTo>
                  <a:cubicBezTo>
                    <a:pt x="63" y="897"/>
                    <a:pt x="139" y="909"/>
                    <a:pt x="202" y="909"/>
                  </a:cubicBezTo>
                  <a:cubicBezTo>
                    <a:pt x="568" y="935"/>
                    <a:pt x="859" y="1225"/>
                    <a:pt x="884" y="1591"/>
                  </a:cubicBezTo>
                  <a:cubicBezTo>
                    <a:pt x="884" y="1667"/>
                    <a:pt x="897" y="1730"/>
                    <a:pt x="897" y="1793"/>
                  </a:cubicBezTo>
                  <a:cubicBezTo>
                    <a:pt x="909" y="1730"/>
                    <a:pt x="909" y="1667"/>
                    <a:pt x="909" y="1591"/>
                  </a:cubicBezTo>
                  <a:cubicBezTo>
                    <a:pt x="934" y="1225"/>
                    <a:pt x="1225" y="935"/>
                    <a:pt x="1604" y="909"/>
                  </a:cubicBezTo>
                  <a:cubicBezTo>
                    <a:pt x="1667" y="909"/>
                    <a:pt x="1730" y="897"/>
                    <a:pt x="1793" y="897"/>
                  </a:cubicBezTo>
                  <a:cubicBezTo>
                    <a:pt x="1730" y="884"/>
                    <a:pt x="1667" y="884"/>
                    <a:pt x="1604" y="884"/>
                  </a:cubicBezTo>
                  <a:cubicBezTo>
                    <a:pt x="1225" y="859"/>
                    <a:pt x="947" y="569"/>
                    <a:pt x="909" y="190"/>
                  </a:cubicBezTo>
                  <a:cubicBezTo>
                    <a:pt x="909" y="127"/>
                    <a:pt x="909" y="63"/>
                    <a:pt x="8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13"/>
          <p:cNvGrpSpPr/>
          <p:nvPr/>
        </p:nvGrpSpPr>
        <p:grpSpPr>
          <a:xfrm>
            <a:off x="715090" y="4698983"/>
            <a:ext cx="811380" cy="811602"/>
            <a:chOff x="1369800" y="3508725"/>
            <a:chExt cx="1007050" cy="1007325"/>
          </a:xfrm>
        </p:grpSpPr>
        <p:sp>
          <p:nvSpPr>
            <p:cNvPr id="93" name="Google Shape;93;p13"/>
            <p:cNvSpPr/>
            <p:nvPr/>
          </p:nvSpPr>
          <p:spPr>
            <a:xfrm>
              <a:off x="1459775" y="3598675"/>
              <a:ext cx="827100" cy="827100"/>
            </a:xfrm>
            <a:custGeom>
              <a:avLst/>
              <a:gdLst/>
              <a:ahLst/>
              <a:cxnLst/>
              <a:rect l="l" t="t" r="r" b="b"/>
              <a:pathLst>
                <a:path w="33084" h="33084" extrusionOk="0">
                  <a:moveTo>
                    <a:pt x="89" y="1"/>
                  </a:moveTo>
                  <a:lnTo>
                    <a:pt x="1" y="89"/>
                  </a:lnTo>
                  <a:lnTo>
                    <a:pt x="32995" y="33083"/>
                  </a:lnTo>
                  <a:lnTo>
                    <a:pt x="33084" y="32995"/>
                  </a:lnTo>
                  <a:lnTo>
                    <a:pt x="8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1568675" y="3530175"/>
              <a:ext cx="608975" cy="964425"/>
            </a:xfrm>
            <a:custGeom>
              <a:avLst/>
              <a:gdLst/>
              <a:ahLst/>
              <a:cxnLst/>
              <a:rect l="l" t="t" r="r" b="b"/>
              <a:pathLst>
                <a:path w="24359" h="38577" extrusionOk="0">
                  <a:moveTo>
                    <a:pt x="115" y="1"/>
                  </a:moveTo>
                  <a:lnTo>
                    <a:pt x="1" y="64"/>
                  </a:lnTo>
                  <a:lnTo>
                    <a:pt x="24258" y="38576"/>
                  </a:lnTo>
                  <a:lnTo>
                    <a:pt x="24359" y="38500"/>
                  </a:lnTo>
                  <a:lnTo>
                    <a:pt x="115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1707575" y="3508725"/>
              <a:ext cx="331500" cy="1007325"/>
            </a:xfrm>
            <a:custGeom>
              <a:avLst/>
              <a:gdLst/>
              <a:ahLst/>
              <a:cxnLst/>
              <a:rect l="l" t="t" r="r" b="b"/>
              <a:pathLst>
                <a:path w="13260" h="40293" extrusionOk="0">
                  <a:moveTo>
                    <a:pt x="127" y="0"/>
                  </a:moveTo>
                  <a:lnTo>
                    <a:pt x="1" y="38"/>
                  </a:lnTo>
                  <a:lnTo>
                    <a:pt x="13133" y="40293"/>
                  </a:lnTo>
                  <a:lnTo>
                    <a:pt x="13259" y="40242"/>
                  </a:lnTo>
                  <a:lnTo>
                    <a:pt x="12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862575" y="3536500"/>
              <a:ext cx="21500" cy="951450"/>
            </a:xfrm>
            <a:custGeom>
              <a:avLst/>
              <a:gdLst/>
              <a:ahLst/>
              <a:cxnLst/>
              <a:rect l="l" t="t" r="r" b="b"/>
              <a:pathLst>
                <a:path w="860" h="38058" extrusionOk="0">
                  <a:moveTo>
                    <a:pt x="1" y="0"/>
                  </a:moveTo>
                  <a:lnTo>
                    <a:pt x="733" y="38058"/>
                  </a:lnTo>
                  <a:lnTo>
                    <a:pt x="859" y="38058"/>
                  </a:lnTo>
                  <a:lnTo>
                    <a:pt x="127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1724950" y="3610350"/>
              <a:ext cx="296750" cy="804050"/>
            </a:xfrm>
            <a:custGeom>
              <a:avLst/>
              <a:gdLst/>
              <a:ahLst/>
              <a:cxnLst/>
              <a:rect l="l" t="t" r="r" b="b"/>
              <a:pathLst>
                <a:path w="11870" h="32162" extrusionOk="0">
                  <a:moveTo>
                    <a:pt x="11756" y="1"/>
                  </a:moveTo>
                  <a:lnTo>
                    <a:pt x="0" y="32124"/>
                  </a:lnTo>
                  <a:lnTo>
                    <a:pt x="114" y="32162"/>
                  </a:lnTo>
                  <a:lnTo>
                    <a:pt x="11870" y="39"/>
                  </a:lnTo>
                  <a:lnTo>
                    <a:pt x="11756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1583850" y="3722750"/>
              <a:ext cx="578975" cy="578975"/>
            </a:xfrm>
            <a:custGeom>
              <a:avLst/>
              <a:gdLst/>
              <a:ahLst/>
              <a:cxnLst/>
              <a:rect l="l" t="t" r="r" b="b"/>
              <a:pathLst>
                <a:path w="23159" h="23159" extrusionOk="0">
                  <a:moveTo>
                    <a:pt x="23070" y="0"/>
                  </a:moveTo>
                  <a:lnTo>
                    <a:pt x="0" y="23070"/>
                  </a:lnTo>
                  <a:lnTo>
                    <a:pt x="88" y="23158"/>
                  </a:lnTo>
                  <a:lnTo>
                    <a:pt x="23158" y="89"/>
                  </a:lnTo>
                  <a:lnTo>
                    <a:pt x="2307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1471450" y="3863225"/>
              <a:ext cx="804050" cy="297375"/>
            </a:xfrm>
            <a:custGeom>
              <a:avLst/>
              <a:gdLst/>
              <a:ahLst/>
              <a:cxnLst/>
              <a:rect l="l" t="t" r="r" b="b"/>
              <a:pathLst>
                <a:path w="32162" h="11895" extrusionOk="0">
                  <a:moveTo>
                    <a:pt x="32124" y="0"/>
                  </a:moveTo>
                  <a:lnTo>
                    <a:pt x="1" y="11781"/>
                  </a:lnTo>
                  <a:lnTo>
                    <a:pt x="39" y="11895"/>
                  </a:lnTo>
                  <a:lnTo>
                    <a:pt x="32162" y="126"/>
                  </a:lnTo>
                  <a:lnTo>
                    <a:pt x="3212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1397600" y="4001475"/>
              <a:ext cx="951475" cy="21500"/>
            </a:xfrm>
            <a:custGeom>
              <a:avLst/>
              <a:gdLst/>
              <a:ahLst/>
              <a:cxnLst/>
              <a:rect l="l" t="t" r="r" b="b"/>
              <a:pathLst>
                <a:path w="38059" h="860" extrusionOk="0">
                  <a:moveTo>
                    <a:pt x="0" y="1"/>
                  </a:moveTo>
                  <a:lnTo>
                    <a:pt x="0" y="127"/>
                  </a:lnTo>
                  <a:lnTo>
                    <a:pt x="38058" y="859"/>
                  </a:lnTo>
                  <a:lnTo>
                    <a:pt x="38058" y="72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1369800" y="3846475"/>
              <a:ext cx="1007050" cy="331175"/>
            </a:xfrm>
            <a:custGeom>
              <a:avLst/>
              <a:gdLst/>
              <a:ahLst/>
              <a:cxnLst/>
              <a:rect l="l" t="t" r="r" b="b"/>
              <a:pathLst>
                <a:path w="40282" h="13247" extrusionOk="0">
                  <a:moveTo>
                    <a:pt x="39" y="1"/>
                  </a:moveTo>
                  <a:lnTo>
                    <a:pt x="1" y="115"/>
                  </a:lnTo>
                  <a:lnTo>
                    <a:pt x="40243" y="13247"/>
                  </a:lnTo>
                  <a:lnTo>
                    <a:pt x="40281" y="13133"/>
                  </a:lnTo>
                  <a:lnTo>
                    <a:pt x="39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1391275" y="3707600"/>
              <a:ext cx="964100" cy="608950"/>
            </a:xfrm>
            <a:custGeom>
              <a:avLst/>
              <a:gdLst/>
              <a:ahLst/>
              <a:cxnLst/>
              <a:rect l="l" t="t" r="r" b="b"/>
              <a:pathLst>
                <a:path w="38564" h="24358" extrusionOk="0">
                  <a:moveTo>
                    <a:pt x="64" y="0"/>
                  </a:moveTo>
                  <a:lnTo>
                    <a:pt x="1" y="114"/>
                  </a:lnTo>
                  <a:lnTo>
                    <a:pt x="38500" y="24358"/>
                  </a:lnTo>
                  <a:lnTo>
                    <a:pt x="38564" y="24244"/>
                  </a:lnTo>
                  <a:lnTo>
                    <a:pt x="6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3" name="Google Shape;103;p13"/>
          <p:cNvCxnSpPr/>
          <p:nvPr/>
        </p:nvCxnSpPr>
        <p:spPr>
          <a:xfrm>
            <a:off x="19493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3"/>
          <p:cNvCxnSpPr/>
          <p:nvPr/>
        </p:nvCxnSpPr>
        <p:spPr>
          <a:xfrm>
            <a:off x="71947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aramond"/>
              <a:buNone/>
              <a:defRPr sz="400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Char char="•"/>
              <a:defRPr sz="280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Char char="–"/>
              <a:defRPr sz="280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Char char="•"/>
              <a:defRPr sz="2400" b="1" i="1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–"/>
              <a:defRPr sz="200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•"/>
              <a:defRPr sz="200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•"/>
              <a:defRPr sz="200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•"/>
              <a:defRPr sz="200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•"/>
              <a:defRPr sz="200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4514850"/>
            <a:ext cx="9144000" cy="628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" descr="UCB_logo-horiz_WHT–smal.ep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95300" y="4619495"/>
            <a:ext cx="1685923" cy="4003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pngall.com/checklist-png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holybro.com/products/sik-telemetry-radio-v3" TargetMode="External"/><Relationship Id="rId3" Type="http://schemas.openxmlformats.org/officeDocument/2006/relationships/hyperlink" Target="https://www.scorpionsystem.com/catalog/aeroplane/motors_1/sii-40/SII-4035-250/?utm_source=chatgpt.com" TargetMode="External"/><Relationship Id="rId7" Type="http://schemas.openxmlformats.org/officeDocument/2006/relationships/hyperlink" Target="https://www.readymaderc.com/products/details/86721-strix-nesting-pair-1m-3k-carbon-fiber-spar-tubes-16-14mm-14-12m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hiteroseeng.com/products/tf.php" TargetMode="External"/><Relationship Id="rId5" Type="http://schemas.openxmlformats.org/officeDocument/2006/relationships/hyperlink" Target="https://www.hiteccs.com/actuators/product-details/D954SW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store.foxtech.com/Diamond-pro-330wh-kg-solid-state-battery/" TargetMode="External"/><Relationship Id="rId9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hyperlink" Target="https://o365coloradoedu-my.sharepoint.com/:x:/r/personal/noju6274_colorado_edu/Documents/SeniorProj_RFPMatrix.xlsx?d=wcb930d652b0b4a6f84c19509cf3024b3&amp;csf=1&amp;web=1&amp;e=EzohY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ctrTitle"/>
          </p:nvPr>
        </p:nvSpPr>
        <p:spPr>
          <a:xfrm>
            <a:off x="1606225" y="2020500"/>
            <a:ext cx="5931550" cy="1102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J.O.Y. Design Review 1</a:t>
            </a:r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ubTitle" idx="1"/>
          </p:nvPr>
        </p:nvSpPr>
        <p:spPr>
          <a:xfrm>
            <a:off x="1371600" y="3123000"/>
            <a:ext cx="6400800" cy="131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en">
                <a:solidFill>
                  <a:schemeClr val="tx1"/>
                </a:solidFill>
              </a:rPr>
              <a:t>Noah Judelson, Zack </a:t>
            </a:r>
            <a:r>
              <a:rPr lang="en" err="1">
                <a:solidFill>
                  <a:schemeClr val="tx1"/>
                </a:solidFill>
              </a:rPr>
              <a:t>Wojtalik</a:t>
            </a:r>
            <a:r>
              <a:rPr lang="en">
                <a:solidFill>
                  <a:schemeClr val="tx1"/>
                </a:solidFill>
              </a:rPr>
              <a:t>, </a:t>
            </a:r>
            <a:endParaRPr lang="en-US">
              <a:solidFill>
                <a:schemeClr val="tx1"/>
              </a:solidFill>
            </a:endParaRPr>
          </a:p>
          <a:p>
            <a:pPr marL="0" lvl="0" indent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Kai Matthews, Cash Collum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12" name="Google Shape;112;p14" title="JOY Aerospace Logo.png"/>
          <p:cNvPicPr preferRelativeResize="0"/>
          <p:nvPr/>
        </p:nvPicPr>
        <p:blipFill rotWithShape="1">
          <a:blip r:embed="rId3">
            <a:alphaModFix/>
          </a:blip>
          <a:srcRect b="16009"/>
          <a:stretch/>
        </p:blipFill>
        <p:spPr>
          <a:xfrm>
            <a:off x="3488938" y="282359"/>
            <a:ext cx="2166124" cy="174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7BDFCEBB-9AEA-AD6A-DE0F-EAC692155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A9D46A-86B6-F271-A802-3FDC4170AB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28" t="1918" r="7691"/>
          <a:stretch>
            <a:fillRect/>
          </a:stretch>
        </p:blipFill>
        <p:spPr>
          <a:xfrm>
            <a:off x="625642" y="519764"/>
            <a:ext cx="2521819" cy="1419061"/>
          </a:xfrm>
          <a:prstGeom prst="rect">
            <a:avLst/>
          </a:prstGeom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B1933D6-6F8F-F5CF-3EE4-99AEB5BA40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7" name="Google Shape;112;p14" title="JOY Aerospace Logo.png">
            <a:extLst>
              <a:ext uri="{FF2B5EF4-FFF2-40B4-BE49-F238E27FC236}">
                <a16:creationId xmlns:a16="http://schemas.microsoft.com/office/drawing/2014/main" id="{1BAE6B61-D162-A1E3-174E-B3ED31083A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yellow and blue airplane&#10;&#10;AI-generated content may be incorrect.">
            <a:extLst>
              <a:ext uri="{FF2B5EF4-FFF2-40B4-BE49-F238E27FC236}">
                <a16:creationId xmlns:a16="http://schemas.microsoft.com/office/drawing/2014/main" id="{BF143CE5-3406-C01C-1004-2577662958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">
            <a:off x="5724384" y="743229"/>
            <a:ext cx="2944981" cy="1118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3D3AEAF-0D64-2844-21A9-8CF78674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A9D92896-A0C6-187C-3CE4-8B48C2C3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8EF062F-0EE9-378A-869B-D5B200971E4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2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7" name="Google Shape;112;p14" title="JOY Aerospace Logo.png">
            <a:extLst>
              <a:ext uri="{FF2B5EF4-FFF2-40B4-BE49-F238E27FC236}">
                <a16:creationId xmlns:a16="http://schemas.microsoft.com/office/drawing/2014/main" id="{C30EC6EF-9838-648A-1A4C-E3A98C47EC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8EBB8D0-C68A-35F6-EF90-D54E9DEF6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611" y="55848"/>
            <a:ext cx="7772400" cy="1102500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BBC9026-34A9-5C51-A669-4429FA0DF587}"/>
              </a:ext>
            </a:extLst>
          </p:cNvPr>
          <p:cNvSpPr txBox="1">
            <a:spLocks/>
          </p:cNvSpPr>
          <p:nvPr/>
        </p:nvSpPr>
        <p:spPr>
          <a:xfrm>
            <a:off x="384021" y="847267"/>
            <a:ext cx="6159390" cy="3710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Garamond"/>
              <a:buNone/>
              <a:defRPr sz="2800" b="0" i="0" u="none" strike="noStrike" cap="none" spc="0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Garamond"/>
              <a:buNone/>
              <a:defRPr sz="2800" b="0" i="0" u="none" strike="noStrike" cap="none" spc="0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Garamond"/>
              <a:buNone/>
              <a:defRPr sz="2400" b="1" i="1" u="none" strike="noStrike" cap="none" spc="0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aramond"/>
              <a:buNone/>
              <a:defRPr sz="2000" b="0" i="0" u="none" strike="noStrike" cap="none" spc="0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aramond"/>
              <a:buNone/>
              <a:defRPr sz="2000" b="0" i="0" u="none" strike="noStrike" cap="none" spc="0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aramond"/>
              <a:buNone/>
              <a:defRPr sz="2000" b="0" i="0" u="none" strike="noStrike" cap="none" spc="0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aramond"/>
              <a:buNone/>
              <a:defRPr sz="2000" b="0" i="0" u="none" strike="noStrike" cap="none" spc="0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aramond"/>
              <a:buNone/>
              <a:defRPr sz="2000" b="0" i="0" u="none" strike="noStrike" cap="none" spc="0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Garamond"/>
              <a:buNone/>
              <a:defRPr sz="2000" b="0" i="0" u="none" strike="noStrike" cap="none" spc="0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5080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Our Design</a:t>
            </a:r>
          </a:p>
          <a:p>
            <a:pPr marL="5080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Tools and Sizing Method Development</a:t>
            </a:r>
          </a:p>
          <a:p>
            <a:pPr marL="5080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Sizing, Mission Analysis and Constraints</a:t>
            </a:r>
          </a:p>
          <a:p>
            <a:pPr marL="5080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Structural, Stability, and Operational Considerations</a:t>
            </a:r>
          </a:p>
          <a:p>
            <a:pPr marL="508000" indent="-457200" algn="l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Conclusions</a:t>
            </a:r>
          </a:p>
          <a:p>
            <a:pPr marL="508000" indent="-457200" algn="l">
              <a:lnSpc>
                <a:spcPct val="150000"/>
              </a:lnSpc>
              <a:buAutoNum type="arabicPeriod"/>
            </a:pPr>
            <a:endParaRPr lang="en-US" sz="24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114300" indent="0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701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77DB01-F723-D269-44C0-059655AA6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">
            <a:off x="3287292" y="1482644"/>
            <a:ext cx="5722934" cy="220135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EDDDF04-4540-5983-FAC0-ABBDE9191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261" y="857406"/>
            <a:ext cx="3754779" cy="27507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Conventional Design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High Lift Device</a:t>
            </a: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2400" dirty="0"/>
              <a:t>Blown Flaps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High Wing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Twin Propellor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Tail Dragger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114300" indent="0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/>
              <a:t>Our Design Concept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700FD2-313E-68B7-4939-3D5191FC929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3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B5E99D83-A6A1-F2B7-598F-840D16D12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pic>
        <p:nvPicPr>
          <p:cNvPr id="4" name="Google Shape;112;p14" title="JOY Aerospace Logo.png">
            <a:extLst>
              <a:ext uri="{FF2B5EF4-FFF2-40B4-BE49-F238E27FC236}">
                <a16:creationId xmlns:a16="http://schemas.microsoft.com/office/drawing/2014/main" id="{7BDB6195-3468-5581-520F-28657C42EC8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F765F9-1D1C-BE6F-533F-A9909A1ED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712" y="307578"/>
            <a:ext cx="1493605" cy="14245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11C164-AB46-97B6-F2EB-3861B454C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8280000" flipV="1">
            <a:off x="6860520" y="1861686"/>
            <a:ext cx="723550" cy="368015"/>
          </a:xfrm>
          <a:prstGeom prst="rect">
            <a:avLst/>
          </a:prstGeom>
        </p:spPr>
      </p:pic>
      <p:pic>
        <p:nvPicPr>
          <p:cNvPr id="16" name="Picture 1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23AE5C6-F3E0-8197-3058-DECD4F0723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040000" flipV="1">
            <a:off x="7559038" y="3047107"/>
            <a:ext cx="696425" cy="325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794C40-80CD-E7BD-EE79-F5CBEC0AB53D}"/>
              </a:ext>
            </a:extLst>
          </p:cNvPr>
          <p:cNvSpPr txBox="1"/>
          <p:nvPr/>
        </p:nvSpPr>
        <p:spPr>
          <a:xfrm>
            <a:off x="6115903" y="3608126"/>
            <a:ext cx="185183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Garamond"/>
              </a:rPr>
              <a:t>Tail Dragger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7BEF5-1772-250A-A152-26A6EE8104A8}"/>
              </a:ext>
            </a:extLst>
          </p:cNvPr>
          <p:cNvSpPr txBox="1"/>
          <p:nvPr/>
        </p:nvSpPr>
        <p:spPr>
          <a:xfrm>
            <a:off x="6495482" y="1266682"/>
            <a:ext cx="29393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Garamond"/>
              </a:rPr>
              <a:t>Blown Flaps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99F166C2-2D8F-4913-6B8D-70585152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61B2FD07-3125-2DAF-056E-F2EE40752E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/>
              <a:t>Our Design &amp; Mission Profile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1480B2-5175-6379-CAA6-978B9F1B0BA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4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BD393A84-BEE6-1B81-56F2-77CCEAC6F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pic>
        <p:nvPicPr>
          <p:cNvPr id="4" name="Google Shape;112;p14" title="JOY Aerospace Logo.png">
            <a:extLst>
              <a:ext uri="{FF2B5EF4-FFF2-40B4-BE49-F238E27FC236}">
                <a16:creationId xmlns:a16="http://schemas.microsoft.com/office/drawing/2014/main" id="{2F16602D-027E-DE7A-36D1-31FC136E9B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253102-B19D-D14A-21BE-DB28685D1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2415008"/>
                  </p:ext>
                </p:extLst>
              </p:nvPr>
            </p:nvGraphicFramePr>
            <p:xfrm>
              <a:off x="458925" y="961999"/>
              <a:ext cx="2623403" cy="32991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2383">
                      <a:extLst>
                        <a:ext uri="{9D8B030D-6E8A-4147-A177-3AD203B41FA5}">
                          <a16:colId xmlns:a16="http://schemas.microsoft.com/office/drawing/2014/main" val="3120702637"/>
                        </a:ext>
                      </a:extLst>
                    </a:gridCol>
                    <a:gridCol w="1701020">
                      <a:extLst>
                        <a:ext uri="{9D8B030D-6E8A-4147-A177-3AD203B41FA5}">
                          <a16:colId xmlns:a16="http://schemas.microsoft.com/office/drawing/2014/main" val="1989592820"/>
                        </a:ext>
                      </a:extLst>
                    </a:gridCol>
                  </a:tblGrid>
                  <a:tr h="44191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400"/>
                            <a:t>Spec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/>
                            <a:t>Our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6019489"/>
                      </a:ext>
                    </a:extLst>
                  </a:tr>
                  <a:tr h="41371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/>
                            <a:t>W</a:t>
                          </a:r>
                          <a:r>
                            <a:rPr lang="en-US" sz="2000" baseline="-2500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49 </a:t>
                          </a:r>
                          <a:r>
                            <a:rPr lang="en-US" sz="2000" dirty="0" err="1"/>
                            <a:t>lbs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7655795"/>
                      </a:ext>
                    </a:extLst>
                  </a:tr>
                  <a:tr h="41371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W</a:t>
                          </a:r>
                          <a:r>
                            <a:rPr lang="en-US" sz="2000" baseline="-2500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19 </a:t>
                          </a:r>
                          <a:r>
                            <a:rPr lang="en-US" sz="2000" dirty="0" err="1"/>
                            <a:t>lbs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0113401"/>
                      </a:ext>
                    </a:extLst>
                  </a:tr>
                  <a:tr h="393025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11 ft</a:t>
                          </a:r>
                          <a:r>
                            <a:rPr lang="en-US" sz="2000" baseline="30000" dirty="0"/>
                            <a:t>2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936407"/>
                      </a:ext>
                    </a:extLst>
                  </a:tr>
                  <a:tr h="393025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8 ft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7378"/>
                      </a:ext>
                    </a:extLst>
                  </a:tr>
                  <a:tr h="382989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5561627"/>
                      </a:ext>
                    </a:extLst>
                  </a:tr>
                  <a:tr h="414285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l-GR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Λ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659062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12618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253102-B19D-D14A-21BE-DB28685D1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2415008"/>
                  </p:ext>
                </p:extLst>
              </p:nvPr>
            </p:nvGraphicFramePr>
            <p:xfrm>
              <a:off x="458925" y="961999"/>
              <a:ext cx="2623403" cy="32991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2383">
                      <a:extLst>
                        <a:ext uri="{9D8B030D-6E8A-4147-A177-3AD203B41FA5}">
                          <a16:colId xmlns:a16="http://schemas.microsoft.com/office/drawing/2014/main" val="3120702637"/>
                        </a:ext>
                      </a:extLst>
                    </a:gridCol>
                    <a:gridCol w="1701020">
                      <a:extLst>
                        <a:ext uri="{9D8B030D-6E8A-4147-A177-3AD203B41FA5}">
                          <a16:colId xmlns:a16="http://schemas.microsoft.com/office/drawing/2014/main" val="198959282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400"/>
                            <a:t>Spec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/>
                            <a:t>Our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6019489"/>
                      </a:ext>
                    </a:extLst>
                  </a:tr>
                  <a:tr h="41371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/>
                            <a:t>W</a:t>
                          </a:r>
                          <a:r>
                            <a:rPr lang="en-US" sz="2000" baseline="-2500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49 </a:t>
                          </a:r>
                          <a:r>
                            <a:rPr lang="en-US" sz="2000" dirty="0" err="1"/>
                            <a:t>lbs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7655795"/>
                      </a:ext>
                    </a:extLst>
                  </a:tr>
                  <a:tr h="41371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W</a:t>
                          </a:r>
                          <a:r>
                            <a:rPr lang="en-US" sz="2000" baseline="-2500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19 </a:t>
                          </a:r>
                          <a:r>
                            <a:rPr lang="en-US" sz="2000" dirty="0" err="1"/>
                            <a:t>lbs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011340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11 ft</a:t>
                          </a:r>
                          <a:r>
                            <a:rPr lang="en-US" sz="2000" baseline="30000" dirty="0"/>
                            <a:t>2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693640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8 ft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47737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5561627"/>
                      </a:ext>
                    </a:extLst>
                  </a:tr>
                  <a:tr h="4142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370" t="-621875" r="-186301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659062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370" t="-700000" r="-186301" b="-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126184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ECC260B-2E80-56D9-FC7E-036F755695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4311"/>
          <a:stretch>
            <a:fillRect/>
          </a:stretch>
        </p:blipFill>
        <p:spPr>
          <a:xfrm>
            <a:off x="3249263" y="410795"/>
            <a:ext cx="6601780" cy="390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7D59D197-D91C-C0B5-D403-52694452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46ADD514-4CFE-ADAF-97E2-A4BCACB23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17515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" sz="7200"/>
              <a:t>Tools and Sizing Method Development</a:t>
            </a:r>
            <a:endParaRPr lang="en-US" sz="7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FFAA3C-29A4-CDBB-8BD1-463C933F80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5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D362E06C-0668-8D9F-3BBF-83829CDDF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pic>
        <p:nvPicPr>
          <p:cNvPr id="4" name="Google Shape;112;p14" title="JOY Aerospace Logo.png">
            <a:extLst>
              <a:ext uri="{FF2B5EF4-FFF2-40B4-BE49-F238E27FC236}">
                <a16:creationId xmlns:a16="http://schemas.microsoft.com/office/drawing/2014/main" id="{3F7F46AB-160C-7D72-D5A2-1A2CDB811D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45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F415A9E2-A46C-D672-5059-B583B99B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C1CB6E08-B7A3-3B63-16DA-68B86C8ED0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395" y="180972"/>
            <a:ext cx="7443340" cy="61369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Component Weight Model Modification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Google Shape;124;p16">
                <a:extLst>
                  <a:ext uri="{FF2B5EF4-FFF2-40B4-BE49-F238E27FC236}">
                    <a16:creationId xmlns:a16="http://schemas.microsoft.com/office/drawing/2014/main" id="{E19ABDE8-3638-0AF3-E75F-C56A5FD1EFA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39700" y="937647"/>
                <a:ext cx="4013846" cy="3185815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lvl="0" indent="-457200"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=1.05 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i="0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rPr>
                          <m:t>wet</m:t>
                        </m:r>
                        <m:r>
                          <a:rPr lang="en-US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" sz="2400">
                  <a:solidFill>
                    <a:schemeClr val="tx1"/>
                  </a:solidFill>
                  <a:latin typeface="Garamond" panose="02020404030301010803" pitchFamily="18" charset="0"/>
                </a:endParaRPr>
              </a:p>
              <a:p>
                <a:pPr lvl="0" indent="-457200" algn="l" rtl="0">
                  <a:spcBef>
                    <a:spcPts val="20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" sz="2400">
                    <a:solidFill>
                      <a:schemeClr val="tx1"/>
                    </a:solidFill>
                  </a:rPr>
                  <a:t>Light-Weight PLA structure</a:t>
                </a:r>
              </a:p>
              <a:p>
                <a:pPr lvl="0" indent="-457200" algn="l" rtl="0">
                  <a:spcBef>
                    <a:spcPts val="1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>
                    <a:solidFill>
                      <a:schemeClr val="tx1"/>
                    </a:solidFill>
                  </a:rPr>
                  <a:t>Bulkheads/Spars modeled separately</a:t>
                </a:r>
              </a:p>
              <a:p>
                <a:pPr lvl="0" indent="-457200" algn="l" rtl="0">
                  <a:spcBef>
                    <a:spcPts val="10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400">
                    <a:solidFill>
                      <a:schemeClr val="tx1"/>
                    </a:solidFill>
                  </a:rPr>
                  <a:t>2x skin thickness sensitivity</a:t>
                </a:r>
                <a:endParaRPr lang="en" sz="2400">
                  <a:solidFill>
                    <a:schemeClr val="tx1"/>
                  </a:solidFill>
                </a:endParaRPr>
              </a:p>
              <a:p>
                <a:pPr indent="-457200"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" sz="2400">
                    <a:solidFill>
                      <a:schemeClr val="tx1"/>
                    </a:solidFill>
                  </a:rPr>
                  <a:t>Iterated W</a:t>
                </a:r>
                <a:r>
                  <a:rPr lang="en" sz="2400" baseline="-25000">
                    <a:solidFill>
                      <a:schemeClr val="tx1"/>
                    </a:solidFill>
                  </a:rPr>
                  <a:t>0</a:t>
                </a:r>
                <a:r>
                  <a:rPr lang="en" sz="2400">
                    <a:solidFill>
                      <a:schemeClr val="tx1"/>
                    </a:solidFill>
                  </a:rPr>
                  <a:t> to converge</a:t>
                </a:r>
              </a:p>
              <a:p>
                <a:pPr lvl="0" indent="-457200" algn="l" rtl="0">
                  <a:spcBef>
                    <a:spcPts val="10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" sz="2400">
                  <a:solidFill>
                    <a:schemeClr val="tx1"/>
                  </a:solidFill>
                </a:endParaRPr>
              </a:p>
              <a:p>
                <a:pPr lvl="0" indent="-457200" algn="l" rtl="0">
                  <a:spcBef>
                    <a:spcPts val="10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" sz="2400"/>
              </a:p>
            </p:txBody>
          </p:sp>
        </mc:Choice>
        <mc:Fallback xmlns="">
          <p:sp>
            <p:nvSpPr>
              <p:cNvPr id="124" name="Google Shape;124;p16">
                <a:extLst>
                  <a:ext uri="{FF2B5EF4-FFF2-40B4-BE49-F238E27FC236}">
                    <a16:creationId xmlns:a16="http://schemas.microsoft.com/office/drawing/2014/main" id="{E19ABDE8-3638-0AF3-E75F-C56A5FD1EFA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9700" y="937647"/>
                <a:ext cx="4013846" cy="3185815"/>
              </a:xfrm>
              <a:prstGeom prst="rect">
                <a:avLst/>
              </a:prstGeom>
              <a:blipFill>
                <a:blip r:embed="rId3"/>
                <a:stretch>
                  <a:fillRect l="-1064" r="-1064" b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53E32034-7C13-2DFD-C5BB-BC86B1FB2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07D0BDF-25E2-BE29-CD77-6CAAA4DB25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6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4361B676-1E03-1435-38AE-B30EA81207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7634B2-7EB0-0799-5A45-DAA7876AC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982" y="1160318"/>
            <a:ext cx="4788318" cy="31034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9114B4-5770-8480-6B61-CDC9EBB522F2}"/>
              </a:ext>
            </a:extLst>
          </p:cNvPr>
          <p:cNvSpPr txBox="1"/>
          <p:nvPr/>
        </p:nvSpPr>
        <p:spPr>
          <a:xfrm>
            <a:off x="7269480" y="1563624"/>
            <a:ext cx="70408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19 </a:t>
            </a:r>
            <a:r>
              <a:rPr lang="en-US" sz="1600" dirty="0" err="1">
                <a:latin typeface="Garamond" panose="02020404030301010803" pitchFamily="18" charset="0"/>
              </a:rPr>
              <a:t>lb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225EE-24EE-E93D-4437-0349EA6F28D8}"/>
              </a:ext>
            </a:extLst>
          </p:cNvPr>
          <p:cNvSpPr txBox="1"/>
          <p:nvPr/>
        </p:nvSpPr>
        <p:spPr>
          <a:xfrm>
            <a:off x="8339065" y="2402473"/>
            <a:ext cx="70408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31 </a:t>
            </a:r>
            <a:r>
              <a:rPr lang="en-US" sz="1600" dirty="0" err="1">
                <a:latin typeface="Garamond" panose="02020404030301010803" pitchFamily="18" charset="0"/>
              </a:rPr>
              <a:t>lb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95F0A-FEA7-E1AF-B162-478C7655DBCC}"/>
              </a:ext>
            </a:extLst>
          </p:cNvPr>
          <p:cNvSpPr txBox="1"/>
          <p:nvPr/>
        </p:nvSpPr>
        <p:spPr>
          <a:xfrm>
            <a:off x="8486192" y="3273785"/>
            <a:ext cx="70408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30 </a:t>
            </a:r>
            <a:r>
              <a:rPr lang="en-US" sz="1600" dirty="0" err="1">
                <a:latin typeface="Garamond" panose="02020404030301010803" pitchFamily="18" charset="0"/>
              </a:rPr>
              <a:t>lb</a:t>
            </a:r>
            <a:endParaRPr lang="en-US" sz="1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59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A9E6D41-E034-9C4B-6793-E3D12A75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>
            <a:extLst>
              <a:ext uri="{FF2B5EF4-FFF2-40B4-BE49-F238E27FC236}">
                <a16:creationId xmlns:a16="http://schemas.microsoft.com/office/drawing/2014/main" id="{7C8D2D69-FC2C-24CA-0226-8CC7732B7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298" y="153811"/>
            <a:ext cx="8328212" cy="65752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 and Breakdown</a:t>
            </a:r>
            <a:endParaRPr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0A307723-CED6-8D5A-B0B4-A0D54FD52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0663D92-E277-F3A4-60D9-F4F2FD5402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80962" y="4817993"/>
            <a:ext cx="356548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7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E68D6B9A-3F19-17FD-4BF8-D7B0A521E7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71D042-57FF-225F-9B6B-734AD177D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721000"/>
              </p:ext>
            </p:extLst>
          </p:nvPr>
        </p:nvGraphicFramePr>
        <p:xfrm>
          <a:off x="209298" y="978942"/>
          <a:ext cx="382786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615">
                  <a:extLst>
                    <a:ext uri="{9D8B030D-6E8A-4147-A177-3AD203B41FA5}">
                      <a16:colId xmlns:a16="http://schemas.microsoft.com/office/drawing/2014/main" val="3627212071"/>
                    </a:ext>
                  </a:extLst>
                </a:gridCol>
                <a:gridCol w="963251">
                  <a:extLst>
                    <a:ext uri="{9D8B030D-6E8A-4147-A177-3AD203B41FA5}">
                      <a16:colId xmlns:a16="http://schemas.microsoft.com/office/drawing/2014/main" val="2803519636"/>
                    </a:ext>
                  </a:extLst>
                </a:gridCol>
              </a:tblGrid>
              <a:tr h="232190">
                <a:tc>
                  <a:txBody>
                    <a:bodyPr/>
                    <a:lstStyle/>
                    <a:p>
                      <a:r>
                        <a:rPr lang="en-US"/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163736"/>
                  </a:ext>
                </a:extLst>
              </a:tr>
              <a:tr h="232190">
                <a:tc>
                  <a:txBody>
                    <a:bodyPr/>
                    <a:lstStyle/>
                    <a:p>
                      <a:r>
                        <a:rPr lang="en-US"/>
                        <a:t>LWPLA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 </a:t>
                      </a:r>
                      <a:r>
                        <a:rPr lang="en-US" err="1"/>
                        <a:t>lb</a:t>
                      </a:r>
                      <a:r>
                        <a:rPr lang="en-US"/>
                        <a:t>/ft</a:t>
                      </a:r>
                      <a:r>
                        <a:rPr lang="en-US" sz="1400" baseline="30000"/>
                        <a:t>3</a:t>
                      </a:r>
                      <a:endParaRPr lang="en-US" baseline="30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827285"/>
                  </a:ext>
                </a:extLst>
              </a:tr>
              <a:tr h="232190">
                <a:tc>
                  <a:txBody>
                    <a:bodyPr/>
                    <a:lstStyle/>
                    <a:p>
                      <a:r>
                        <a:rPr lang="en-US"/>
                        <a:t>LW Balsa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 </a:t>
                      </a:r>
                      <a:r>
                        <a:rPr lang="en-US" err="1"/>
                        <a:t>lb</a:t>
                      </a:r>
                      <a:r>
                        <a:rPr lang="en-US"/>
                        <a:t>/ft</a:t>
                      </a:r>
                      <a:r>
                        <a:rPr lang="en-US" sz="1400" baseline="30000"/>
                        <a:t>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509138"/>
                  </a:ext>
                </a:extLst>
              </a:tr>
              <a:tr h="232190">
                <a:tc>
                  <a:txBody>
                    <a:bodyPr/>
                    <a:lstStyle/>
                    <a:p>
                      <a:r>
                        <a:rPr lang="en-US"/>
                        <a:t>Wing Spar (Nested CF Pair)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 </a:t>
                      </a:r>
                      <a:r>
                        <a:rPr lang="en-US" err="1"/>
                        <a:t>lb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15377"/>
                  </a:ext>
                </a:extLst>
              </a:tr>
              <a:tr h="232190">
                <a:tc>
                  <a:txBody>
                    <a:bodyPr/>
                    <a:lstStyle/>
                    <a:p>
                      <a:r>
                        <a:rPr lang="en-US"/>
                        <a:t>Wing Skin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752559"/>
                  </a:ext>
                </a:extLst>
              </a:tr>
              <a:tr h="232190">
                <a:tc>
                  <a:txBody>
                    <a:bodyPr/>
                    <a:lstStyle/>
                    <a:p>
                      <a:r>
                        <a:rPr lang="en-US"/>
                        <a:t>Stabilizer/Fuse Skin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91434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289139F-6AE7-98C4-7A8B-8F6FB07640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89"/>
          <a:stretch>
            <a:fillRect/>
          </a:stretch>
        </p:blipFill>
        <p:spPr>
          <a:xfrm>
            <a:off x="4163540" y="978942"/>
            <a:ext cx="4980460" cy="3120369"/>
          </a:xfrm>
          <a:prstGeom prst="rect">
            <a:avLst/>
          </a:prstGeom>
        </p:spPr>
      </p:pic>
      <p:sp>
        <p:nvSpPr>
          <p:cNvPr id="14" name="Google Shape;124;p16">
            <a:extLst>
              <a:ext uri="{FF2B5EF4-FFF2-40B4-BE49-F238E27FC236}">
                <a16:creationId xmlns:a16="http://schemas.microsoft.com/office/drawing/2014/main" id="{6A23551B-8BF5-DC4E-6006-4E989AA3D7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256" y="2975352"/>
            <a:ext cx="3303950" cy="1346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tx1"/>
                </a:solidFill>
              </a:rPr>
              <a:t>100% PLA infill</a:t>
            </a:r>
          </a:p>
          <a:p>
            <a:pPr lvl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</a:t>
            </a:r>
            <a:r>
              <a:rPr lang="en" sz="2400" dirty="0" err="1">
                <a:solidFill>
                  <a:schemeClr val="tx1"/>
                </a:solidFill>
              </a:rPr>
              <a:t>inimal</a:t>
            </a:r>
            <a:r>
              <a:rPr lang="en" sz="2400" dirty="0">
                <a:solidFill>
                  <a:schemeClr val="tx1"/>
                </a:solidFill>
              </a:rPr>
              <a:t> wing support</a:t>
            </a:r>
          </a:p>
          <a:p>
            <a:pPr lvl="0" indent="-457200"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tx1"/>
                </a:solidFill>
              </a:rPr>
              <a:t>LG/Actuator weight</a:t>
            </a:r>
          </a:p>
          <a:p>
            <a:pPr lvl="0" indent="-457200">
              <a:buFont typeface="Arial" panose="020B0604020202020204" pitchFamily="34" charset="0"/>
              <a:buChar char="•"/>
            </a:pPr>
            <a:endParaRPr lang="en" sz="2400" dirty="0">
              <a:solidFill>
                <a:schemeClr val="tx1"/>
              </a:solidFill>
            </a:endParaRPr>
          </a:p>
          <a:p>
            <a:pPr lvl="0" indent="-457200">
              <a:buFont typeface="Arial" panose="020B0604020202020204" pitchFamily="34" charset="0"/>
              <a:buChar char="•"/>
            </a:pPr>
            <a:endParaRPr lang="en" sz="2400" dirty="0">
              <a:solidFill>
                <a:schemeClr val="tx1"/>
              </a:solidFill>
            </a:endParaRPr>
          </a:p>
          <a:p>
            <a:pPr lvl="0" indent="-457200">
              <a:buFont typeface="Arial" panose="020B0604020202020204" pitchFamily="34" charset="0"/>
              <a:buChar char="•"/>
            </a:pPr>
            <a:endParaRPr lang="en" sz="2400" dirty="0">
              <a:solidFill>
                <a:schemeClr val="tx1"/>
              </a:solidFill>
            </a:endParaRPr>
          </a:p>
          <a:p>
            <a:pPr lvl="0" indent="-45720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400" dirty="0"/>
          </a:p>
        </p:txBody>
      </p:sp>
    </p:spTree>
    <p:extLst>
      <p:ext uri="{BB962C8B-B14F-4D97-AF65-F5344CB8AC3E}">
        <p14:creationId xmlns:p14="http://schemas.microsoft.com/office/powerpoint/2010/main" val="262040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621792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 dirty="0"/>
              <a:t>High Lift Devices</a:t>
            </a:r>
            <a:endParaRPr lang="en-US" dirty="0"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1FC32FC7-586D-73F9-34A7-4894A07DB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153C127-0726-E487-135F-AE7E907AC0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8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7" name="Google Shape;112;p14" title="JOY Aerospace Logo.png">
            <a:extLst>
              <a:ext uri="{FF2B5EF4-FFF2-40B4-BE49-F238E27FC236}">
                <a16:creationId xmlns:a16="http://schemas.microsoft.com/office/drawing/2014/main" id="{32800ABF-5D77-F727-E95A-A8AE304D30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5 Types of Flaps Explained - Aviation History - Century of Flight">
            <a:extLst>
              <a:ext uri="{FF2B5EF4-FFF2-40B4-BE49-F238E27FC236}">
                <a16:creationId xmlns:a16="http://schemas.microsoft.com/office/drawing/2014/main" id="{7528EE01-0821-D107-0E6D-2940496F43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2" r="-563" b="26537"/>
          <a:stretch>
            <a:fillRect/>
          </a:stretch>
        </p:blipFill>
        <p:spPr>
          <a:xfrm>
            <a:off x="6456329" y="908889"/>
            <a:ext cx="2770795" cy="35132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C6BEB5-1458-1C2B-37A4-6AE05D7A027B}"/>
              </a:ext>
            </a:extLst>
          </p:cNvPr>
          <p:cNvSpPr txBox="1"/>
          <p:nvPr/>
        </p:nvSpPr>
        <p:spPr>
          <a:xfrm>
            <a:off x="6333490" y="1639993"/>
            <a:ext cx="687916" cy="15874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695C0-8845-58D1-B961-33620F642F37}"/>
              </a:ext>
            </a:extLst>
          </p:cNvPr>
          <p:cNvSpPr txBox="1"/>
          <p:nvPr/>
        </p:nvSpPr>
        <p:spPr>
          <a:xfrm>
            <a:off x="6333490" y="2805853"/>
            <a:ext cx="687916" cy="15874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937C7-648B-1DC3-DBB4-1458645B894B}"/>
              </a:ext>
            </a:extLst>
          </p:cNvPr>
          <p:cNvSpPr txBox="1"/>
          <p:nvPr/>
        </p:nvSpPr>
        <p:spPr>
          <a:xfrm>
            <a:off x="6333490" y="4162213"/>
            <a:ext cx="687916" cy="15874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A1093-2851-A78F-FE7D-72981CE50CA0}"/>
              </a:ext>
            </a:extLst>
          </p:cNvPr>
          <p:cNvSpPr txBox="1"/>
          <p:nvPr/>
        </p:nvSpPr>
        <p:spPr>
          <a:xfrm>
            <a:off x="5614771" y="1043609"/>
            <a:ext cx="8839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Garamond"/>
              </a:rPr>
              <a:t>Plain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F211B6-0A13-221C-472A-D05CBC417EC6}"/>
              </a:ext>
            </a:extLst>
          </p:cNvPr>
          <p:cNvSpPr txBox="1"/>
          <p:nvPr/>
        </p:nvSpPr>
        <p:spPr>
          <a:xfrm>
            <a:off x="5614771" y="2223565"/>
            <a:ext cx="8839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Garamond"/>
              </a:rPr>
              <a:t>Split</a:t>
            </a:r>
            <a:endParaRPr lang="en-US" dirty="0">
              <a:latin typeface="Garamon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A091BD-C605-97F0-8C9C-72AD8C570933}"/>
              </a:ext>
            </a:extLst>
          </p:cNvPr>
          <p:cNvSpPr txBox="1"/>
          <p:nvPr/>
        </p:nvSpPr>
        <p:spPr>
          <a:xfrm>
            <a:off x="5450941" y="3355471"/>
            <a:ext cx="12115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Garamond"/>
              </a:rPr>
              <a:t>Slotted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D044BC-45F7-EA43-35A6-ADB2514925FD}"/>
                  </a:ext>
                </a:extLst>
              </p:cNvPr>
              <p:cNvSpPr txBox="1"/>
              <p:nvPr/>
            </p:nvSpPr>
            <p:spPr>
              <a:xfrm>
                <a:off x="77308" y="1136377"/>
                <a:ext cx="5137817" cy="8084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𝑓𝑙𝑎𝑝𝑝𝑒𝑑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Garamond" panose="02020404030301010803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D044BC-45F7-EA43-35A6-ADB251492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8" y="1136377"/>
                <a:ext cx="5137817" cy="808491"/>
              </a:xfrm>
              <a:prstGeom prst="rect">
                <a:avLst/>
              </a:prstGeom>
              <a:blipFill>
                <a:blip r:embed="rId6"/>
                <a:stretch>
                  <a:fillRect l="-988" r="-1481"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AFA04FA-4C33-B7EB-50B8-1CB623C2FF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761166"/>
                  </p:ext>
                </p:extLst>
              </p:nvPr>
            </p:nvGraphicFramePr>
            <p:xfrm>
              <a:off x="299707" y="2225138"/>
              <a:ext cx="3943110" cy="16787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83957">
                      <a:extLst>
                        <a:ext uri="{9D8B030D-6E8A-4147-A177-3AD203B41FA5}">
                          <a16:colId xmlns:a16="http://schemas.microsoft.com/office/drawing/2014/main" val="1984995346"/>
                        </a:ext>
                      </a:extLst>
                    </a:gridCol>
                    <a:gridCol w="1225296">
                      <a:extLst>
                        <a:ext uri="{9D8B030D-6E8A-4147-A177-3AD203B41FA5}">
                          <a16:colId xmlns:a16="http://schemas.microsoft.com/office/drawing/2014/main" val="1785785206"/>
                        </a:ext>
                      </a:extLst>
                    </a:gridCol>
                    <a:gridCol w="1133857">
                      <a:extLst>
                        <a:ext uri="{9D8B030D-6E8A-4147-A177-3AD203B41FA5}">
                          <a16:colId xmlns:a16="http://schemas.microsoft.com/office/drawing/2014/main" val="36523835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Garamond" panose="02020404030301010803" pitchFamily="18" charset="0"/>
                            </a:rPr>
                            <a:t>Flap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b="1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𝒍</m:t>
                                        </m:r>
                                      </m:e>
                                      <m:sub>
                                        <m:r>
                                          <a:rPr lang="en-US" sz="2400" b="1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𝒎𝒂𝒙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b="1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𝑳</m:t>
                                        </m:r>
                                      </m:e>
                                      <m:sub>
                                        <m:r>
                                          <a:rPr lang="en-US" sz="2400" b="1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𝒎𝒂𝒙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3585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Plain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0.3240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75729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Split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0.3240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715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Slotted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1.3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0.4680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44052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AFA04FA-4C33-B7EB-50B8-1CB623C2FF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761166"/>
                  </p:ext>
                </p:extLst>
              </p:nvPr>
            </p:nvGraphicFramePr>
            <p:xfrm>
              <a:off x="299707" y="2225138"/>
              <a:ext cx="3943110" cy="16787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83957">
                      <a:extLst>
                        <a:ext uri="{9D8B030D-6E8A-4147-A177-3AD203B41FA5}">
                          <a16:colId xmlns:a16="http://schemas.microsoft.com/office/drawing/2014/main" val="1984995346"/>
                        </a:ext>
                      </a:extLst>
                    </a:gridCol>
                    <a:gridCol w="1225296">
                      <a:extLst>
                        <a:ext uri="{9D8B030D-6E8A-4147-A177-3AD203B41FA5}">
                          <a16:colId xmlns:a16="http://schemas.microsoft.com/office/drawing/2014/main" val="1785785206"/>
                        </a:ext>
                      </a:extLst>
                    </a:gridCol>
                    <a:gridCol w="1133857">
                      <a:extLst>
                        <a:ext uri="{9D8B030D-6E8A-4147-A177-3AD203B41FA5}">
                          <a16:colId xmlns:a16="http://schemas.microsoft.com/office/drawing/2014/main" val="3652383532"/>
                        </a:ext>
                      </a:extLst>
                    </a:gridCol>
                  </a:tblGrid>
                  <a:tr h="49003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Garamond" panose="02020404030301010803" pitchFamily="18" charset="0"/>
                            </a:rPr>
                            <a:t>Flap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28866" t="-10256" r="-94845" b="-2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46667" t="-10256" r="-2222" b="-26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035852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Plain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0.3240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757295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Split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0.3240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71515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Slotted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1.3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Garamond" panose="02020404030301010803" pitchFamily="18" charset="0"/>
                            </a:rPr>
                            <a:t>0.4680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44052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743C05A-5914-639C-EAB7-F9A93F5A9EC3}"/>
              </a:ext>
            </a:extLst>
          </p:cNvPr>
          <p:cNvSpPr txBox="1"/>
          <p:nvPr/>
        </p:nvSpPr>
        <p:spPr>
          <a:xfrm>
            <a:off x="178556" y="4151685"/>
            <a:ext cx="4185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Garamond" panose="02020404030301010803" pitchFamily="18" charset="0"/>
              </a:rPr>
              <a:t>Raymer, D. P., </a:t>
            </a:r>
            <a:r>
              <a:rPr lang="en-US" sz="800" i="1" dirty="0">
                <a:latin typeface="Garamond" panose="02020404030301010803" pitchFamily="18" charset="0"/>
              </a:rPr>
              <a:t>Aircraft Design: A Conceptual Approach</a:t>
            </a:r>
            <a:r>
              <a:rPr lang="en-US" sz="800" dirty="0">
                <a:latin typeface="Garamond" panose="02020404030301010803" pitchFamily="18" charset="0"/>
              </a:rPr>
              <a:t>, 7th ed., AIAA Education Series, American Institute of Aeronautics and Astronautics, Reston, VA, 2024.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1F43ACF9-B70B-28C5-E444-502AEA376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189510D3-5546-1C9D-5E47-20FC9C473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17515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" sz="7200"/>
              <a:t>Sizing, Mission Analysis and Constraints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68735-7800-4FDC-8F94-28C3F4C2EA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9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2471DE4A-2357-FF37-2403-BFAEAE371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pic>
        <p:nvPicPr>
          <p:cNvPr id="4" name="Google Shape;112;p14" title="JOY Aerospace Logo.png">
            <a:extLst>
              <a:ext uri="{FF2B5EF4-FFF2-40B4-BE49-F238E27FC236}">
                <a16:creationId xmlns:a16="http://schemas.microsoft.com/office/drawing/2014/main" id="{C2933401-94E3-4FA3-7475-5047E03CA4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006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181947" y="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" dirty="0"/>
              <a:t>Point Performance Evaluation</a:t>
            </a:r>
            <a:endParaRPr dirty="0"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141D8F18-3EA9-C286-C211-72A4EF0BF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2CA9028-83E1-794D-4669-C4D4CFF2B1E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10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298386A9-55EA-A91C-7BAE-09E2D8FFFD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F3F90D-1957-F00B-C118-ECC801C0A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2296" y="740664"/>
            <a:ext cx="6504432" cy="3658743"/>
          </a:xfrm>
          <a:prstGeom prst="rect">
            <a:avLst/>
          </a:prstGeom>
        </p:spPr>
      </p:pic>
      <p:sp>
        <p:nvSpPr>
          <p:cNvPr id="10" name="Google Shape;124;p16">
            <a:extLst>
              <a:ext uri="{FF2B5EF4-FFF2-40B4-BE49-F238E27FC236}">
                <a16:creationId xmlns:a16="http://schemas.microsoft.com/office/drawing/2014/main" id="{6886ACC0-164E-9712-C022-9217706545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53912" y="857400"/>
            <a:ext cx="2923540" cy="33122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None/>
            </a:pPr>
            <a:r>
              <a:rPr lang="en" sz="2400" dirty="0">
                <a:solidFill>
                  <a:schemeClr val="tx1"/>
                </a:solidFill>
              </a:rPr>
              <a:t>Mission Characteristics</a:t>
            </a:r>
          </a:p>
          <a:p>
            <a:pPr lvl="0" indent="-457200"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chemeClr val="tx1"/>
                </a:solidFill>
              </a:rPr>
              <a:t>150mph Max Speed for 10 minutes </a:t>
            </a:r>
          </a:p>
          <a:p>
            <a:pPr lvl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1.5 </a:t>
            </a:r>
            <a:r>
              <a:rPr lang="en-US" sz="2400" dirty="0" err="1">
                <a:solidFill>
                  <a:schemeClr val="tx1"/>
                </a:solidFill>
              </a:rPr>
              <a:t>hr</a:t>
            </a:r>
            <a:r>
              <a:rPr lang="en-US" sz="2400" dirty="0">
                <a:solidFill>
                  <a:schemeClr val="tx1"/>
                </a:solidFill>
              </a:rPr>
              <a:t> flight time</a:t>
            </a:r>
          </a:p>
          <a:p>
            <a:pPr lvl="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Cruise @ 15,000ft</a:t>
            </a:r>
            <a:endParaRPr lang="en" sz="2400" dirty="0">
              <a:solidFill>
                <a:schemeClr val="tx1"/>
              </a:solidFill>
            </a:endParaRPr>
          </a:p>
          <a:p>
            <a:pPr lvl="0" indent="-457200">
              <a:buFont typeface="Arial" panose="020B0604020202020204" pitchFamily="34" charset="0"/>
              <a:buChar char="•"/>
            </a:pPr>
            <a:endParaRPr lang="en" sz="2400" dirty="0">
              <a:solidFill>
                <a:schemeClr val="tx1"/>
              </a:solidFill>
            </a:endParaRPr>
          </a:p>
          <a:p>
            <a:pPr lvl="0" indent="-457200">
              <a:buFont typeface="Arial" panose="020B0604020202020204" pitchFamily="34" charset="0"/>
              <a:buChar char="•"/>
            </a:pPr>
            <a:endParaRPr lang="en" sz="2400" dirty="0">
              <a:solidFill>
                <a:schemeClr val="tx1"/>
              </a:solidFill>
            </a:endParaRPr>
          </a:p>
          <a:p>
            <a:pPr lvl="0" indent="-457200">
              <a:buFont typeface="Arial" panose="020B0604020202020204" pitchFamily="34" charset="0"/>
              <a:buChar char="•"/>
            </a:pPr>
            <a:endParaRPr lang="en" sz="2400" dirty="0">
              <a:solidFill>
                <a:schemeClr val="tx1"/>
              </a:solidFill>
            </a:endParaRPr>
          </a:p>
          <a:p>
            <a:pPr lvl="0" indent="-45720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Wingspan and Root Chord Analysis</a:t>
            </a:r>
          </a:p>
        </p:txBody>
      </p:sp>
      <p:pic>
        <p:nvPicPr>
          <p:cNvPr id="4" name="Picture 3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5671DE14-E8A2-4DAC-32F9-C57C02D61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EA4FCD3-B061-37C7-45D0-A0BE526C34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11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416C2759-3BD8-156F-3BA3-29E1DAAA0A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1D9F32-C998-F1C0-A3C9-CA0EB52B5D67}"/>
              </a:ext>
            </a:extLst>
          </p:cNvPr>
          <p:cNvSpPr txBox="1"/>
          <p:nvPr/>
        </p:nvSpPr>
        <p:spPr>
          <a:xfrm>
            <a:off x="0" y="983630"/>
            <a:ext cx="368826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Garamond" panose="02020404030301010803" pitchFamily="18" charset="0"/>
              </a:rPr>
              <a:t>Original Values showed too much loading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Garamond" panose="02020404030301010803" pitchFamily="18" charset="0"/>
              </a:rPr>
              <a:t>Increase Planform Area and Aspect Ratio for better loading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Garamond" panose="02020404030301010803" pitchFamily="18" charset="0"/>
              </a:rPr>
              <a:t>Diminishing return and manufacturing concerns occur as wingspan increases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FD5E2-D6FE-3FE9-0510-7896EFFF0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262" y="857693"/>
            <a:ext cx="4968440" cy="34281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F4EA55B8-1953-5C85-11F1-3CA34C6A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B4421DF1-1607-54FA-CBD9-6C0D8F8FF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17515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" sz="7200"/>
              <a:t>Structural, Stability, and Operational Considerations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D50ECF-3CC0-9F76-54FB-DF6C98A2916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12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4FCB9AAF-8EBD-F5DA-BE8F-D6001856C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pic>
        <p:nvPicPr>
          <p:cNvPr id="4" name="Google Shape;112;p14" title="JOY Aerospace Logo.png">
            <a:extLst>
              <a:ext uri="{FF2B5EF4-FFF2-40B4-BE49-F238E27FC236}">
                <a16:creationId xmlns:a16="http://schemas.microsoft.com/office/drawing/2014/main" id="{7928FD31-B02C-CC68-75E0-3B5A4FBC3B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9620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39700" y="62422"/>
            <a:ext cx="5185335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Considerations</a:t>
            </a:r>
            <a:endParaRPr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59FB8AED-D035-B255-2A1B-7B8D9373E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E8109D1-8415-E4CE-EC6A-469C72E1792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13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30FE5221-97C4-BD31-9DCE-CF2BC75B47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4;p16">
            <a:extLst>
              <a:ext uri="{FF2B5EF4-FFF2-40B4-BE49-F238E27FC236}">
                <a16:creationId xmlns:a16="http://schemas.microsoft.com/office/drawing/2014/main" id="{8F4F629B-A716-D073-CE43-B47BAB1E785B}"/>
              </a:ext>
            </a:extLst>
          </p:cNvPr>
          <p:cNvSpPr txBox="1">
            <a:spLocks/>
          </p:cNvSpPr>
          <p:nvPr/>
        </p:nvSpPr>
        <p:spPr>
          <a:xfrm>
            <a:off x="146771" y="810066"/>
            <a:ext cx="4888059" cy="3693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•"/>
              <a:defRPr sz="2800" b="0" i="0" u="none" strike="noStrike" cap="none" spc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–"/>
              <a:defRPr sz="2800" b="0" i="0" u="none" strike="noStrike" cap="none" spc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•"/>
              <a:defRPr sz="2400" b="1" i="1" u="none" strike="noStrike" cap="none" spc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–"/>
              <a:defRPr sz="2000" b="0" i="0" u="none" strike="noStrike" cap="none" spc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2000" b="0" i="0" u="none" strike="noStrike" cap="none" spc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•"/>
              <a:defRPr sz="2000" b="0" i="0" u="none" strike="noStrike" cap="none" spc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•"/>
              <a:defRPr sz="2000" b="0" i="0" u="none" strike="noStrike" cap="none" spc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•"/>
              <a:defRPr sz="2000" b="0" i="0" u="none" strike="noStrike" cap="none" spc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•"/>
              <a:defRPr sz="2000" b="0" i="0" u="none" strike="noStrike" cap="none" spc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-457200">
              <a:buFont typeface="Arial" panose="020B0604020202020204" pitchFamily="34" charset="0"/>
              <a:buChar char="•"/>
            </a:pPr>
            <a:r>
              <a:rPr lang="en" sz="2400"/>
              <a:t>Segmented LW-PLA construction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US" sz="2400"/>
              <a:t>Precise</a:t>
            </a:r>
            <a:r>
              <a:rPr lang="en" sz="2400"/>
              <a:t>, replicable, size limited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US" sz="2400"/>
              <a:t>Plan to reinforce </a:t>
            </a:r>
            <a:r>
              <a:rPr lang="en" sz="2400"/>
              <a:t>joints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400"/>
              <a:t>High</a:t>
            </a:r>
            <a:r>
              <a:rPr lang="en" sz="2400"/>
              <a:t> lift devices – plain blown flaps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US" sz="2400"/>
              <a:t>Complexity vs. Lift tradeoff </a:t>
            </a:r>
            <a:endParaRPr lang="en"/>
          </a:p>
          <a:p>
            <a:pPr indent="-457200">
              <a:buFont typeface="Arial" panose="020B0604020202020204" pitchFamily="34" charset="0"/>
              <a:buChar char="•"/>
            </a:pPr>
            <a:r>
              <a:rPr lang="en" sz="2400"/>
              <a:t>Spanwise wing spar system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US" sz="2400"/>
              <a:t>Wind gust G requirements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sz="2400"/>
              <a:t>Fixed tailwheel landing gear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US" sz="2400"/>
              <a:t>Consider landing load distribution</a:t>
            </a:r>
            <a:endParaRPr lang="en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F611D1-CF06-02C3-E08B-A70FFA11B9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82" t="8213" r="5986" b="9212"/>
          <a:stretch>
            <a:fillRect/>
          </a:stretch>
        </p:blipFill>
        <p:spPr>
          <a:xfrm>
            <a:off x="5434321" y="548850"/>
            <a:ext cx="3562908" cy="21078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BA636E-F797-6029-AEB3-6A2A34B45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4321" y="3141166"/>
            <a:ext cx="3562908" cy="9819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4416056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Stability Considerations</a:t>
            </a:r>
            <a:endParaRPr sz="3600"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CF2A2FBE-E6DD-7B78-3B48-6C341CAAC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2E61E29-BA76-72B4-A888-5C515B121B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14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1F06916A-0E95-8EB5-B31F-8BD7C3564CA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EFE66F-A09D-9239-EB47-6D9341D6ADC1}"/>
              </a:ext>
            </a:extLst>
          </p:cNvPr>
          <p:cNvSpPr txBox="1"/>
          <p:nvPr/>
        </p:nvSpPr>
        <p:spPr>
          <a:xfrm>
            <a:off x="68816" y="999168"/>
            <a:ext cx="34257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Garamond" panose="02020404030301010803" pitchFamily="18" charset="0"/>
              </a:rPr>
              <a:t>High Wing for Inherent Roll Stability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B23DA-C97D-5347-004A-EEC0B3E3F6D2}"/>
              </a:ext>
            </a:extLst>
          </p:cNvPr>
          <p:cNvSpPr txBox="1"/>
          <p:nvPr/>
        </p:nvSpPr>
        <p:spPr>
          <a:xfrm>
            <a:off x="0" y="1736688"/>
            <a:ext cx="2451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Garamond" panose="02020404030301010803" pitchFamily="18" charset="0"/>
              </a:rPr>
              <a:t>Static Margin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D455DD-1F04-B6AC-76E1-ED414E5CEC53}"/>
              </a:ext>
            </a:extLst>
          </p:cNvPr>
          <p:cNvSpPr txBox="1"/>
          <p:nvPr/>
        </p:nvSpPr>
        <p:spPr>
          <a:xfrm>
            <a:off x="68816" y="2392347"/>
            <a:ext cx="855566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Garamond" panose="02020404030301010803" pitchFamily="18" charset="0"/>
              </a:rPr>
              <a:t>RFP requires between 10-15% Static Margin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Garamond" panose="02020404030301010803" pitchFamily="18" charset="0"/>
              </a:rPr>
              <a:t>Analysis using baseline values shows roughly 8 different designs</a:t>
            </a:r>
          </a:p>
          <a:p>
            <a:pPr marL="342900" lvl="8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Garamond" panose="02020404030301010803" pitchFamily="18" charset="0"/>
              </a:rPr>
              <a:t>Battery in front, Payloads surrounding CG, and Electronics in the back gives 12-14% Static Margin throughout all stages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6F2B4D-7FB3-210C-67C3-B3055AD67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9085" y="51607"/>
            <a:ext cx="3574823" cy="23656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Considerations</a:t>
            </a:r>
            <a:endParaRPr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9E3F0E9F-8DE8-99E6-1797-9CB45D657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3F24FC9-5D0A-A593-B266-A701F5336E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15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CB907D89-1A6C-79BE-636A-03B77CA9DA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59A906-28D2-FC51-313B-B7A0FB10E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950748"/>
              </p:ext>
            </p:extLst>
          </p:nvPr>
        </p:nvGraphicFramePr>
        <p:xfrm>
          <a:off x="441960" y="1082040"/>
          <a:ext cx="8225664" cy="2558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701">
                  <a:extLst>
                    <a:ext uri="{9D8B030D-6E8A-4147-A177-3AD203B41FA5}">
                      <a16:colId xmlns:a16="http://schemas.microsoft.com/office/drawing/2014/main" val="3750880653"/>
                    </a:ext>
                  </a:extLst>
                </a:gridCol>
                <a:gridCol w="4881963">
                  <a:extLst>
                    <a:ext uri="{9D8B030D-6E8A-4147-A177-3AD203B41FA5}">
                      <a16:colId xmlns:a16="http://schemas.microsoft.com/office/drawing/2014/main" val="2976425083"/>
                    </a:ext>
                  </a:extLst>
                </a:gridCol>
              </a:tblGrid>
              <a:tr h="6712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>
                          <a:latin typeface="Garamond"/>
                          <a:ea typeface="Calibri"/>
                          <a:cs typeface="Arial"/>
                        </a:rPr>
                        <a:t>Design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>
                          <a:latin typeface="Garamond"/>
                          <a:ea typeface="Calibri"/>
                          <a:cs typeface="Arial"/>
                        </a:rPr>
                        <a:t>Operational Consideration</a:t>
                      </a:r>
                      <a:endParaRPr lang="en-US">
                        <a:latin typeface="Garamon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872270"/>
                  </a:ext>
                </a:extLst>
              </a:tr>
              <a:tr h="5843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>
                          <a:latin typeface="Garamond"/>
                          <a:ea typeface="Calibri"/>
                          <a:cs typeface="Arial"/>
                        </a:rPr>
                        <a:t>Tail Dragger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>
                          <a:latin typeface="Garamond"/>
                          <a:ea typeface="Calibri"/>
                          <a:cs typeface="Arial"/>
                        </a:rPr>
                        <a:t>Unstable ground steering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399715"/>
                  </a:ext>
                </a:extLst>
              </a:tr>
              <a:tr h="584376"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Garamond"/>
                          <a:ea typeface="Calibri"/>
                          <a:cs typeface="Arial"/>
                        </a:rPr>
                        <a:t>Blown Flaps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Garamond"/>
                          <a:ea typeface="Calibri"/>
                          <a:cs typeface="Arial"/>
                        </a:rPr>
                        <a:t>Decreased Landing Speed + STOL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800647"/>
                  </a:ext>
                </a:extLst>
              </a:tr>
              <a:tr h="718626"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Garamond"/>
                          <a:ea typeface="Calibri"/>
                          <a:cs typeface="Arial"/>
                        </a:rPr>
                        <a:t>High Wings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Garamond"/>
                          <a:ea typeface="Calibri"/>
                          <a:cs typeface="Arial"/>
                        </a:rPr>
                        <a:t>Less maneuverability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4870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078EF7C6-28A9-C8CD-E504-4E7734B0D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BE542D37-7BE4-DFEE-750F-9C05127E7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17515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" sz="7200"/>
              <a:t>Conclusions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5F3756-5BAA-9534-7BBC-58A70C3C72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85584" y="4817993"/>
            <a:ext cx="251926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16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E5A42E58-DBD6-5BAB-758B-0E9DC2855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pic>
        <p:nvPicPr>
          <p:cNvPr id="4" name="Google Shape;112;p14" title="JOY Aerospace Logo.png">
            <a:extLst>
              <a:ext uri="{FF2B5EF4-FFF2-40B4-BE49-F238E27FC236}">
                <a16:creationId xmlns:a16="http://schemas.microsoft.com/office/drawing/2014/main" id="{46561149-8AAA-A998-55B1-FEDCCBF967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0977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B19646E2-037A-86A2-E836-4B2B5811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>
            <a:extLst>
              <a:ext uri="{FF2B5EF4-FFF2-40B4-BE49-F238E27FC236}">
                <a16:creationId xmlns:a16="http://schemas.microsoft.com/office/drawing/2014/main" id="{D7FA8E5A-51CC-75AE-7F5B-ECA0103A6F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3081" y="368045"/>
            <a:ext cx="14810379" cy="48208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F11D0CE0-AE56-E5AF-D79A-1C9E349C1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2DA76BF-1B5A-4EEE-359D-0A993FA03F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80962" y="4817993"/>
            <a:ext cx="356548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17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4A492339-BF37-E185-A8F2-E2A408AD96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2DEBB8-920F-D156-BAC8-BAF192606050}"/>
              </a:ext>
            </a:extLst>
          </p:cNvPr>
          <p:cNvSpPr txBox="1"/>
          <p:nvPr/>
        </p:nvSpPr>
        <p:spPr>
          <a:xfrm>
            <a:off x="4846433" y="911215"/>
            <a:ext cx="419862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Garamond"/>
                <a:ea typeface="Calibri"/>
                <a:cs typeface="Calibri"/>
              </a:rPr>
              <a:t>Why Team Joy?</a:t>
            </a:r>
          </a:p>
          <a:p>
            <a:pPr marL="342900" indent="-342900">
              <a:buFont typeface="Calibri"/>
              <a:buChar char="-"/>
            </a:pPr>
            <a:r>
              <a:rPr lang="en-US" sz="2400">
                <a:latin typeface="Garamond"/>
                <a:ea typeface="Calibri"/>
                <a:cs typeface="Calibri"/>
              </a:rPr>
              <a:t>Meets RFP requirements</a:t>
            </a:r>
          </a:p>
          <a:p>
            <a:pPr marL="342900" indent="-342900">
              <a:buFont typeface="Calibri"/>
              <a:buChar char="-"/>
            </a:pPr>
            <a:r>
              <a:rPr lang="en-US" sz="2400">
                <a:latin typeface="Garamond"/>
                <a:ea typeface="Calibri"/>
                <a:cs typeface="Calibri"/>
              </a:rPr>
              <a:t>Manufacturable design</a:t>
            </a:r>
          </a:p>
          <a:p>
            <a:pPr marL="342900" indent="-342900">
              <a:buFont typeface="Calibri"/>
              <a:buChar char="-"/>
            </a:pPr>
            <a:r>
              <a:rPr lang="en-US" sz="2400">
                <a:latin typeface="Garamond"/>
                <a:ea typeface="Calibri"/>
                <a:cs typeface="Calibri"/>
              </a:rPr>
              <a:t>Pilotable </a:t>
            </a:r>
          </a:p>
          <a:p>
            <a:pPr marL="342900" indent="-342900">
              <a:buFont typeface="Calibri"/>
              <a:buChar char="-"/>
            </a:pPr>
            <a:endParaRPr lang="en-US" sz="2400">
              <a:latin typeface="Garamond"/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endParaRPr lang="en-US" sz="2400">
              <a:latin typeface="Garamond"/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endParaRPr lang="en-US" sz="2400">
              <a:latin typeface="Garamond"/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endParaRPr lang="en-US" sz="2400">
              <a:latin typeface="Garamond"/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endParaRPr lang="en-US" sz="2400">
              <a:latin typeface="Garamond"/>
              <a:ea typeface="Calibri"/>
              <a:cs typeface="Calibri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6C8182-6E9B-3913-199A-B037FFCD6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538674"/>
              </p:ext>
            </p:extLst>
          </p:nvPr>
        </p:nvGraphicFramePr>
        <p:xfrm>
          <a:off x="426720" y="914400"/>
          <a:ext cx="4054389" cy="3386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401">
                  <a:extLst>
                    <a:ext uri="{9D8B030D-6E8A-4147-A177-3AD203B41FA5}">
                      <a16:colId xmlns:a16="http://schemas.microsoft.com/office/drawing/2014/main" val="911258782"/>
                    </a:ext>
                  </a:extLst>
                </a:gridCol>
                <a:gridCol w="2184988">
                  <a:extLst>
                    <a:ext uri="{9D8B030D-6E8A-4147-A177-3AD203B41FA5}">
                      <a16:colId xmlns:a16="http://schemas.microsoft.com/office/drawing/2014/main" val="2960193128"/>
                    </a:ext>
                  </a:extLst>
                </a:gridCol>
              </a:tblGrid>
              <a:tr h="460611">
                <a:tc>
                  <a:txBody>
                    <a:bodyPr/>
                    <a:lstStyle/>
                    <a:p>
                      <a:r>
                        <a:rPr lang="en-US" sz="2400">
                          <a:latin typeface="Garamond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Garamond"/>
                        </a:rPr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589029"/>
                  </a:ext>
                </a:extLst>
              </a:tr>
              <a:tr h="39920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Garamond"/>
                        </a:rPr>
                        <a:t>High lift at low 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>
                          <a:latin typeface="Garamond"/>
                        </a:rPr>
                        <a:t>Unstable Ground Steering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90463"/>
                  </a:ext>
                </a:extLst>
              </a:tr>
              <a:tr h="39920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Garamond"/>
                        </a:rPr>
                        <a:t>Propellor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>
                          <a:latin typeface="Garamond"/>
                        </a:rPr>
                        <a:t>Less ground maneuverability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410735"/>
                  </a:ext>
                </a:extLst>
              </a:tr>
              <a:tr h="39920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Garamond"/>
                        </a:rPr>
                        <a:t>High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>
                        <a:latin typeface="Garamon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212254"/>
                  </a:ext>
                </a:extLst>
              </a:tr>
              <a:tr h="39920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latin typeface="Garamond"/>
                        </a:rPr>
                        <a:t>Design 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Garamon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988313"/>
                  </a:ext>
                </a:extLst>
              </a:tr>
            </a:tbl>
          </a:graphicData>
        </a:graphic>
      </p:graphicFrame>
      <p:pic>
        <p:nvPicPr>
          <p:cNvPr id="11" name="Picture 10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BAC3D4DB-C522-4040-34BE-EDC18DB1E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229597" y="1352548"/>
            <a:ext cx="365765" cy="289564"/>
          </a:xfrm>
          <a:prstGeom prst="rect">
            <a:avLst/>
          </a:prstGeom>
        </p:spPr>
      </p:pic>
      <p:pic>
        <p:nvPicPr>
          <p:cNvPr id="14" name="Picture 13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8F218D10-3214-B248-0764-B9EAE643F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962897" y="1756408"/>
            <a:ext cx="365765" cy="289564"/>
          </a:xfrm>
          <a:prstGeom prst="rect">
            <a:avLst/>
          </a:prstGeom>
        </p:spPr>
      </p:pic>
      <p:pic>
        <p:nvPicPr>
          <p:cNvPr id="15" name="Picture 14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CED630E7-978D-0BE0-9B90-9097C6F4DC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339837" y="2137408"/>
            <a:ext cx="365765" cy="28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48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C9045-C2AB-F780-E2CB-405EBEB44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6DDD2BBD-FF1C-BE29-2C10-D74230E6E7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80962" y="4817993"/>
            <a:ext cx="356548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18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6" name="Google Shape;112;p14" title="JOY Aerospace Logo.png">
            <a:extLst>
              <a:ext uri="{FF2B5EF4-FFF2-40B4-BE49-F238E27FC236}">
                <a16:creationId xmlns:a16="http://schemas.microsoft.com/office/drawing/2014/main" id="{64087BF2-4973-54D5-ECE2-5F9A3520F88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yellow and blue airplane&#10;&#10;AI-generated content may be incorrect.">
            <a:extLst>
              <a:ext uri="{FF2B5EF4-FFF2-40B4-BE49-F238E27FC236}">
                <a16:creationId xmlns:a16="http://schemas.microsoft.com/office/drawing/2014/main" id="{97C8EB21-1FEF-59C8-DCB8-43430BD883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4" t="4299" r="2916" b="10370"/>
          <a:stretch>
            <a:fillRect/>
          </a:stretch>
        </p:blipFill>
        <p:spPr>
          <a:xfrm rot="540000">
            <a:off x="1088595" y="1394681"/>
            <a:ext cx="6966809" cy="235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74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30E02B9-8CB4-E5A0-D26F-EDB8DD33E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>
            <a:extLst>
              <a:ext uri="{FF2B5EF4-FFF2-40B4-BE49-F238E27FC236}">
                <a16:creationId xmlns:a16="http://schemas.microsoft.com/office/drawing/2014/main" id="{88CD0587-4E0D-36A4-0CE3-5E62DB0575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for the Future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Google Shape;160;p22">
                <a:extLst>
                  <a:ext uri="{FF2B5EF4-FFF2-40B4-BE49-F238E27FC236}">
                    <a16:creationId xmlns:a16="http://schemas.microsoft.com/office/drawing/2014/main" id="{E525547B-6762-D224-EE8F-F9F9ABD3C52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968547"/>
                <a:ext cx="8229600" cy="3206405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lvl="0" indent="-457200" algn="l" rtl="0">
                  <a:spcBef>
                    <a:spcPts val="15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 panose="020B0604020202020204" pitchFamily="34" charset="0"/>
                  <a:buChar char="•"/>
                </a:pPr>
                <a:r>
                  <a:rPr lang="en-US"/>
                  <a:t>Weight model accuracy improvements</a:t>
                </a:r>
                <a:endParaRPr lang="en"/>
              </a:p>
              <a:p>
                <a:pPr indent="-457200">
                  <a:spcBef>
                    <a:spcPts val="1500"/>
                  </a:spcBef>
                  <a:buSzPts val="1100"/>
                  <a:buFont typeface="Arial" panose="020B0604020202020204" pitchFamily="34" charset="0"/>
                  <a:buChar char="•"/>
                </a:pPr>
                <a:r>
                  <a:rPr lang="en-US"/>
                  <a:t>Continue building analytical blown flap model</a:t>
                </a:r>
              </a:p>
              <a:p>
                <a:pPr indent="-457200">
                  <a:spcBef>
                    <a:spcPts val="1500"/>
                  </a:spcBef>
                  <a:buSzPts val="1100"/>
                  <a:buFont typeface="Arial" panose="020B0604020202020204" pitchFamily="34" charset="0"/>
                  <a:buChar char="•"/>
                </a:pPr>
                <a:r>
                  <a:rPr lang="en-US"/>
                  <a:t>T</a:t>
                </a:r>
                <a:r>
                  <a:rPr lang="en" err="1"/>
                  <a:t>rade</a:t>
                </a:r>
                <a:r>
                  <a:rPr lang="en"/>
                  <a:t> study 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">
                  <a:solidFill>
                    <a:schemeClr val="tx1"/>
                  </a:solidFill>
                  <a:latin typeface="Garamond" panose="02020404030301010803" pitchFamily="18" charset="0"/>
                </a:endParaRPr>
              </a:p>
              <a:p>
                <a:pPr indent="-457200">
                  <a:spcBef>
                    <a:spcPts val="1500"/>
                  </a:spcBef>
                  <a:buSzPts val="1100"/>
                  <a:buFont typeface="Arial" panose="020B0604020202020204" pitchFamily="34" charset="0"/>
                  <a:buChar char="•"/>
                </a:pPr>
                <a:r>
                  <a:rPr lang="en">
                    <a:solidFill>
                      <a:schemeClr val="tx1"/>
                    </a:solidFill>
                    <a:latin typeface="Garamond" panose="02020404030301010803" pitchFamily="18" charset="0"/>
                  </a:rPr>
                  <a:t>Wing internal structure design</a:t>
                </a:r>
              </a:p>
              <a:p>
                <a:pPr indent="-457200">
                  <a:spcBef>
                    <a:spcPts val="1500"/>
                  </a:spcBef>
                  <a:buSzPts val="1100"/>
                  <a:buFont typeface="Arial" panose="020B0604020202020204" pitchFamily="34" charset="0"/>
                  <a:buChar char="•"/>
                </a:pPr>
                <a:r>
                  <a:rPr lang="en-US"/>
                  <a:t>Add anhedral for stability reduction</a:t>
                </a:r>
                <a:endParaRPr lang="en">
                  <a:solidFill>
                    <a:schemeClr val="tx1"/>
                  </a:solidFill>
                  <a:latin typeface="Garamond" panose="02020404030301010803" pitchFamily="18" charset="0"/>
                </a:endParaRPr>
              </a:p>
              <a:p>
                <a:pPr indent="-457200">
                  <a:spcBef>
                    <a:spcPts val="1500"/>
                  </a:spcBef>
                  <a:buSzPts val="1100"/>
                  <a:buFontTx/>
                  <a:buChar char="-"/>
                </a:pPr>
                <a:endParaRPr lang="en">
                  <a:solidFill>
                    <a:schemeClr val="tx1"/>
                  </a:solidFill>
                  <a:latin typeface="Garamond" panose="02020404030301010803" pitchFamily="18" charset="0"/>
                </a:endParaRPr>
              </a:p>
              <a:p>
                <a:pPr indent="-457200">
                  <a:spcBef>
                    <a:spcPts val="1500"/>
                  </a:spcBef>
                  <a:buSzPts val="1100"/>
                  <a:buFontTx/>
                  <a:buChar char="-"/>
                </a:pPr>
                <a:endParaRPr lang="en"/>
              </a:p>
            </p:txBody>
          </p:sp>
        </mc:Choice>
        <mc:Fallback xmlns="">
          <p:sp>
            <p:nvSpPr>
              <p:cNvPr id="160" name="Google Shape;160;p22">
                <a:extLst>
                  <a:ext uri="{FF2B5EF4-FFF2-40B4-BE49-F238E27FC236}">
                    <a16:creationId xmlns:a16="http://schemas.microsoft.com/office/drawing/2014/main" id="{E525547B-6762-D224-EE8F-F9F9ABD3C5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968547"/>
                <a:ext cx="8229600" cy="3206405"/>
              </a:xfrm>
              <a:prstGeom prst="rect">
                <a:avLst/>
              </a:prstGeom>
              <a:blipFill>
                <a:blip r:embed="rId3"/>
                <a:stretch>
                  <a:fillRect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63256746-AB8D-8C05-3F56-58CA21EE0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4FFBF17-1364-9E14-C8A6-05AE56B973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80962" y="4817993"/>
            <a:ext cx="356548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19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ABBA9FD7-FB61-6DE5-DB0D-7E42FD2F052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7763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E52F213-3077-A48C-04DF-722A76EF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>
            <a:extLst>
              <a:ext uri="{FF2B5EF4-FFF2-40B4-BE49-F238E27FC236}">
                <a16:creationId xmlns:a16="http://schemas.microsoft.com/office/drawing/2014/main" id="{AF956344-E8FA-60D8-9F80-6A8C6459F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 Tree</a:t>
            </a:r>
            <a:endParaRPr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B5EF97A0-CE4F-35A1-02AB-013BE4747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B71EE1-5F3D-0E2A-B858-21C9DD82EE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5" t="5885" b="11210"/>
          <a:stretch>
            <a:fillRect/>
          </a:stretch>
        </p:blipFill>
        <p:spPr>
          <a:xfrm>
            <a:off x="457200" y="1099770"/>
            <a:ext cx="8227021" cy="2943959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E178214-04BB-4EDF-DD7D-08B97A4C113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80962" y="4817993"/>
            <a:ext cx="356548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20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6" name="Google Shape;112;p14" title="JOY Aerospace Logo.png">
            <a:extLst>
              <a:ext uri="{FF2B5EF4-FFF2-40B4-BE49-F238E27FC236}">
                <a16:creationId xmlns:a16="http://schemas.microsoft.com/office/drawing/2014/main" id="{3083788E-8DE8-EDBB-A4B2-532F26D31E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1904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D9723DB-CC4B-9761-A247-985ACC4BD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>
            <a:extLst>
              <a:ext uri="{FF2B5EF4-FFF2-40B4-BE49-F238E27FC236}">
                <a16:creationId xmlns:a16="http://schemas.microsoft.com/office/drawing/2014/main" id="{572C7B38-6B04-BCAD-950E-A6D880D79A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952" y="131868"/>
            <a:ext cx="5803391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BMF Variation Over Mission</a:t>
            </a:r>
            <a:endParaRPr dirty="0"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94817EBC-5CE9-5207-AC93-0447F94A6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107CA38-F043-73E6-AF55-A8B4FBF356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80962" y="4817993"/>
            <a:ext cx="356548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21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4657DBA9-D99E-557F-5BB5-70A27C5E58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C71937-6BB1-23B2-7B21-C4AE68430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1869" y="839176"/>
            <a:ext cx="6160262" cy="346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49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A00D965-02F0-26EA-6540-5D88AA4D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>
            <a:extLst>
              <a:ext uri="{FF2B5EF4-FFF2-40B4-BE49-F238E27FC236}">
                <a16:creationId xmlns:a16="http://schemas.microsoft.com/office/drawing/2014/main" id="{91B31BFC-70CF-3DBB-F0F3-57C52789B1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0632"/>
            <a:ext cx="8229600" cy="51591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COTS Component Links</a:t>
            </a:r>
            <a:endParaRPr/>
          </a:p>
        </p:txBody>
      </p:sp>
      <p:sp>
        <p:nvSpPr>
          <p:cNvPr id="160" name="Google Shape;160;p22">
            <a:extLst>
              <a:ext uri="{FF2B5EF4-FFF2-40B4-BE49-F238E27FC236}">
                <a16:creationId xmlns:a16="http://schemas.microsoft.com/office/drawing/2014/main" id="{252BF41F-ADCD-5354-7A36-DF05CE3D1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7825" y="846549"/>
            <a:ext cx="8388350" cy="321542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1000"/>
              </a:spcBef>
              <a:buSzPts val="1100"/>
              <a:buNone/>
            </a:pPr>
            <a:r>
              <a:rPr lang="en" sz="2000"/>
              <a:t>Motor: </a:t>
            </a:r>
            <a:r>
              <a:rPr lang="en-US" sz="2000">
                <a:hlinkClick r:id="rId3"/>
              </a:rPr>
              <a:t>https://www.scorpionsystem.com/catalog/aeroplane/motors_1/sii-40/SII-4035-250/</a:t>
            </a:r>
            <a:endParaRPr lang="en" sz="2000"/>
          </a:p>
          <a:p>
            <a:pPr marL="0" lvl="0" indent="0">
              <a:spcBef>
                <a:spcPts val="2000"/>
              </a:spcBef>
              <a:buSzPts val="1100"/>
              <a:buNone/>
            </a:pPr>
            <a:r>
              <a:rPr lang="en" sz="2000"/>
              <a:t>Battery: </a:t>
            </a:r>
            <a:r>
              <a:rPr lang="en-US" sz="2000">
                <a:hlinkClick r:id="rId4"/>
              </a:rPr>
              <a:t>https://store.foxtech.com/Diamond-pro-330wh-kg-solid-state-battery/</a:t>
            </a:r>
            <a:endParaRPr lang="en" sz="2000"/>
          </a:p>
          <a:p>
            <a:pPr marL="0" lvl="0" indent="0">
              <a:spcBef>
                <a:spcPts val="1000"/>
              </a:spcBef>
              <a:buSzPts val="1100"/>
              <a:buNone/>
            </a:pPr>
            <a:r>
              <a:rPr lang="en" sz="2000"/>
              <a:t>Actuator: </a:t>
            </a:r>
            <a:r>
              <a:rPr lang="en-US" sz="2000">
                <a:hlinkClick r:id="rId5"/>
              </a:rPr>
              <a:t>https://www.hiteccs.com/actuators/product-details/D954SW</a:t>
            </a:r>
            <a:endParaRPr lang="en" sz="2000"/>
          </a:p>
          <a:p>
            <a:pPr marL="0" indent="0">
              <a:spcBef>
                <a:spcPts val="1000"/>
              </a:spcBef>
              <a:buSzPts val="1100"/>
              <a:buNone/>
            </a:pPr>
            <a:r>
              <a:rPr lang="en" sz="2000"/>
              <a:t>Landing Gear: </a:t>
            </a:r>
            <a:r>
              <a:rPr lang="en-US" sz="2000">
                <a:hlinkClick r:id="rId6"/>
              </a:rPr>
              <a:t>https://whiteroseeng.com/products/tf.php</a:t>
            </a:r>
            <a:endParaRPr lang="en-US" sz="2000"/>
          </a:p>
          <a:p>
            <a:pPr marL="0" lvl="0" indent="0">
              <a:spcBef>
                <a:spcPts val="1000"/>
              </a:spcBef>
              <a:buSzPts val="1100"/>
              <a:buNone/>
            </a:pPr>
            <a:r>
              <a:rPr lang="en" sz="2000"/>
              <a:t>Wing Spar: </a:t>
            </a:r>
            <a:r>
              <a:rPr lang="en-US" sz="2000">
                <a:hlinkClick r:id="rId7"/>
              </a:rPr>
              <a:t>https://www.readymaderc.com/products/details/86721-strix-nesting-pair-1m-3k-carbon-fiber-spar-tubes-16-14mm-14-12mm</a:t>
            </a:r>
            <a:endParaRPr lang="en" sz="2000"/>
          </a:p>
          <a:p>
            <a:pPr marL="0" lvl="0" indent="0">
              <a:spcBef>
                <a:spcPts val="1000"/>
              </a:spcBef>
              <a:buSzPts val="1100"/>
              <a:buNone/>
            </a:pPr>
            <a:r>
              <a:rPr lang="en" sz="2000"/>
              <a:t>Telemetry: </a:t>
            </a:r>
            <a:r>
              <a:rPr lang="en-US" sz="2000">
                <a:hlinkClick r:id="rId8"/>
              </a:rPr>
              <a:t>https://holybro.com/products/sik-telemetry-radio-v3</a:t>
            </a:r>
            <a:endParaRPr lang="en-US" sz="2000"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59433670-66E9-C257-713B-06C2DF3BF6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6CDC9E3-9127-F935-61CF-15A5A99911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80962" y="4817993"/>
            <a:ext cx="356548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22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5" name="Google Shape;112;p14" title="JOY Aerospace Logo.png">
            <a:extLst>
              <a:ext uri="{FF2B5EF4-FFF2-40B4-BE49-F238E27FC236}">
                <a16:creationId xmlns:a16="http://schemas.microsoft.com/office/drawing/2014/main" id="{8F7829C8-7B60-2024-1D5A-2E2356DF214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1017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9C1DB560-FB75-BCC0-0B2E-B8F0C07E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>
            <a:extLst>
              <a:ext uri="{FF2B5EF4-FFF2-40B4-BE49-F238E27FC236}">
                <a16:creationId xmlns:a16="http://schemas.microsoft.com/office/drawing/2014/main" id="{77CCA933-4D1D-5108-519A-4277E0592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397" y="63571"/>
            <a:ext cx="7682459" cy="61098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RFP Requirements Matrix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9479A-23B4-363E-60F6-4A5D804E0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246" y="759712"/>
            <a:ext cx="5932357" cy="3624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26EC40-7CDE-563F-5AC4-335DA226E13F}"/>
              </a:ext>
            </a:extLst>
          </p:cNvPr>
          <p:cNvSpPr txBox="1"/>
          <p:nvPr/>
        </p:nvSpPr>
        <p:spPr>
          <a:xfrm>
            <a:off x="157397" y="1663808"/>
            <a:ext cx="26982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4"/>
              </a:rPr>
              <a:t>https://o365coloradoedu-my.sharepoint.com/:x:/r/personal/noju6274_colorado_edu/Documents/SeniorProj_RFPMatrix.xlsx?d=wcb930d652b0b4a6f84c19509cf3024b3&amp;csf=1&amp;web=1&amp;e=EzohYa</a:t>
            </a:r>
            <a:endParaRPr lang="en-US"/>
          </a:p>
          <a:p>
            <a:endParaRPr lang="en-US"/>
          </a:p>
        </p:txBody>
      </p:sp>
      <p:pic>
        <p:nvPicPr>
          <p:cNvPr id="3" name="Picture 2" descr="Faculty/Staff/Student Resources | Ann and H.J. Smead Aerospace Engineering  Sciences | University of Colorado Boulder">
            <a:extLst>
              <a:ext uri="{FF2B5EF4-FFF2-40B4-BE49-F238E27FC236}">
                <a16:creationId xmlns:a16="http://schemas.microsoft.com/office/drawing/2014/main" id="{264E8B8A-4E12-A298-BF93-FDFD6B9D6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4554908"/>
            <a:ext cx="2451101" cy="526170"/>
          </a:xfrm>
          <a:prstGeom prst="rect">
            <a:avLst/>
          </a:prstGeom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80B0ED12-B823-0645-44E4-572D83E4D4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80962" y="4817993"/>
            <a:ext cx="356548" cy="273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23</a:t>
            </a:fld>
            <a:endParaRPr lang="en">
              <a:solidFill>
                <a:schemeClr val="bg1"/>
              </a:solidFill>
            </a:endParaRPr>
          </a:p>
        </p:txBody>
      </p:sp>
      <p:pic>
        <p:nvPicPr>
          <p:cNvPr id="7" name="Google Shape;112;p14" title="JOY Aerospace Logo.png">
            <a:extLst>
              <a:ext uri="{FF2B5EF4-FFF2-40B4-BE49-F238E27FC236}">
                <a16:creationId xmlns:a16="http://schemas.microsoft.com/office/drawing/2014/main" id="{83670EB2-871B-BE03-7AB8-E726EA7B1A0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16009"/>
          <a:stretch/>
        </p:blipFill>
        <p:spPr>
          <a:xfrm>
            <a:off x="8691109" y="4767263"/>
            <a:ext cx="480883" cy="37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23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</Words>
  <Application>Microsoft Macintosh PowerPoint</Application>
  <PresentationFormat>On-screen Show (16:9)</PresentationFormat>
  <Paragraphs>213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Calibri</vt:lpstr>
      <vt:lpstr>Cambria Math</vt:lpstr>
      <vt:lpstr>Courier New</vt:lpstr>
      <vt:lpstr>Garamond</vt:lpstr>
      <vt:lpstr>Arial</vt:lpstr>
      <vt:lpstr>Office Theme</vt:lpstr>
      <vt:lpstr>TEAM J.O.Y. Design Review 1</vt:lpstr>
      <vt:lpstr>Agenda</vt:lpstr>
      <vt:lpstr>Our Design Concept</vt:lpstr>
      <vt:lpstr>Our Design &amp; Mission Profile</vt:lpstr>
      <vt:lpstr>Tools and Sizing Method Development</vt:lpstr>
      <vt:lpstr>Component Weight Model Modification</vt:lpstr>
      <vt:lpstr>Assumptions and Breakdown</vt:lpstr>
      <vt:lpstr>High Lift Devices</vt:lpstr>
      <vt:lpstr>Sizing, Mission Analysis and Constraints</vt:lpstr>
      <vt:lpstr>Point Performance Evaluation</vt:lpstr>
      <vt:lpstr>Wingspan and Root Chord Analysis</vt:lpstr>
      <vt:lpstr>Structural, Stability, and Operational Considerations</vt:lpstr>
      <vt:lpstr>Structural Considerations</vt:lpstr>
      <vt:lpstr>Stability Considerations</vt:lpstr>
      <vt:lpstr>Operational Considerations</vt:lpstr>
      <vt:lpstr>Conclusions</vt:lpstr>
      <vt:lpstr>Conclusion</vt:lpstr>
      <vt:lpstr>Questions?</vt:lpstr>
      <vt:lpstr>Plan for the Future</vt:lpstr>
      <vt:lpstr>Trade Tree</vt:lpstr>
      <vt:lpstr>BMF Variation Over Mission</vt:lpstr>
      <vt:lpstr>COTS Component Links</vt:lpstr>
      <vt:lpstr>RFP Requirements Matrix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Zack Wojtalik</cp:lastModifiedBy>
  <cp:revision>1</cp:revision>
  <dcterms:modified xsi:type="dcterms:W3CDTF">2026-09-28T05:37:30Z</dcterms:modified>
</cp:coreProperties>
</file>